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300" r:id="rId6"/>
    <p:sldId id="307" r:id="rId7"/>
    <p:sldId id="308" r:id="rId8"/>
    <p:sldId id="309" r:id="rId9"/>
    <p:sldId id="310" r:id="rId10"/>
    <p:sldId id="301" r:id="rId11"/>
    <p:sldId id="306" r:id="rId12"/>
    <p:sldId id="311" r:id="rId13"/>
    <p:sldId id="312" r:id="rId14"/>
    <p:sldId id="313" r:id="rId15"/>
    <p:sldId id="302" r:id="rId16"/>
    <p:sldId id="303" r:id="rId17"/>
    <p:sldId id="304" r:id="rId18"/>
    <p:sldId id="297" r:id="rId19"/>
  </p:sldIdLst>
  <p:sldSz cx="5753100" cy="3238500"/>
  <p:notesSz cx="6858000" cy="9144000"/>
  <p:embeddedFontLst>
    <p:embeddedFont>
      <p:font typeface="Cambria Math" panose="02040503050406030204" pitchFamily="18" charset="0"/>
      <p:regular r:id="rId21"/>
    </p:embeddedFont>
    <p:embeddedFont>
      <p:font typeface="Tahoma" panose="020B0604030504040204" pitchFamily="3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03" autoAdjust="0"/>
    <p:restoredTop sz="94609" autoAdjust="0"/>
  </p:normalViewPr>
  <p:slideViewPr>
    <p:cSldViewPr>
      <p:cViewPr varScale="1">
        <p:scale>
          <a:sx n="207" d="100"/>
          <a:sy n="207" d="100"/>
        </p:scale>
        <p:origin x="1200"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2350" y="512763"/>
            <a:ext cx="45593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mởi đầu phần thuyết trình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2350" y="512763"/>
            <a:ext cx="45593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15" y="-6067"/>
            <a:ext cx="5760015" cy="3244567"/>
            <a:chOff x="0" y="0"/>
            <a:chExt cx="7680020" cy="4326090"/>
          </a:xfrm>
        </p:grpSpPr>
        <p:sp>
          <p:nvSpPr>
            <p:cNvPr id="3" name="Freeform 3"/>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3"/>
              <a:stretch>
                <a:fillRect/>
              </a:stretch>
            </a:blipFill>
          </p:spPr>
        </p:sp>
      </p:grpSp>
      <p:grpSp>
        <p:nvGrpSpPr>
          <p:cNvPr id="4" name="Group 4"/>
          <p:cNvGrpSpPr/>
          <p:nvPr/>
        </p:nvGrpSpPr>
        <p:grpSpPr>
          <a:xfrm>
            <a:off x="370494" y="294589"/>
            <a:ext cx="1870358" cy="386620"/>
            <a:chOff x="0" y="0"/>
            <a:chExt cx="2493810" cy="515493"/>
          </a:xfrm>
        </p:grpSpPr>
        <p:sp>
          <p:nvSpPr>
            <p:cNvPr id="5" name="Freeform 5"/>
            <p:cNvSpPr/>
            <p:nvPr/>
          </p:nvSpPr>
          <p:spPr>
            <a:xfrm>
              <a:off x="0" y="0"/>
              <a:ext cx="2493772" cy="515493"/>
            </a:xfrm>
            <a:custGeom>
              <a:avLst/>
              <a:gdLst/>
              <a:ahLst/>
              <a:cxnLst/>
              <a:rect l="l" t="t" r="r" b="b"/>
              <a:pathLst>
                <a:path w="2493772" h="515493">
                  <a:moveTo>
                    <a:pt x="0" y="0"/>
                  </a:moveTo>
                  <a:lnTo>
                    <a:pt x="2493772" y="0"/>
                  </a:lnTo>
                  <a:lnTo>
                    <a:pt x="2493772" y="515493"/>
                  </a:lnTo>
                  <a:lnTo>
                    <a:pt x="0" y="515493"/>
                  </a:lnTo>
                  <a:lnTo>
                    <a:pt x="0" y="0"/>
                  </a:lnTo>
                  <a:close/>
                </a:path>
              </a:pathLst>
            </a:custGeom>
            <a:blipFill>
              <a:blip r:embed="rId4"/>
              <a:stretch>
                <a:fillRect r="-1"/>
              </a:stretch>
            </a:blipFill>
          </p:spPr>
        </p:sp>
      </p:grpSp>
      <p:sp>
        <p:nvSpPr>
          <p:cNvPr id="6" name="TextBox 6"/>
          <p:cNvSpPr txBox="1"/>
          <p:nvPr/>
        </p:nvSpPr>
        <p:spPr>
          <a:xfrm>
            <a:off x="400935" y="810704"/>
            <a:ext cx="4944351" cy="1054199"/>
          </a:xfrm>
          <a:prstGeom prst="rect">
            <a:avLst/>
          </a:prstGeom>
        </p:spPr>
        <p:txBody>
          <a:bodyPr lIns="0" tIns="0" rIns="0" bIns="0" rtlCol="0" anchor="t">
            <a:spAutoFit/>
          </a:bodyPr>
          <a:lstStyle/>
          <a:p>
            <a:pPr algn="ctr">
              <a:lnSpc>
                <a:spcPts val="2099"/>
              </a:lnSpc>
            </a:pP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Bài Tập Cuối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Khoá</a:t>
            </a:r>
            <a:endPar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endParaRPr>
          </a:p>
          <a:p>
            <a:pPr algn="ctr">
              <a:lnSpc>
                <a:spcPts val="2099"/>
              </a:lnSpc>
            </a:pP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Học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phần</a:t>
            </a: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Xử</a:t>
            </a: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lý</a:t>
            </a: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ngôn</a:t>
            </a: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ngữ</a:t>
            </a: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tự</a:t>
            </a:r>
            <a:r>
              <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 </a:t>
            </a:r>
            <a:r>
              <a:rPr lang="en-US" sz="1200" spc="-4" dirty="0" err="1">
                <a:solidFill>
                  <a:srgbClr val="F3F6F9"/>
                </a:solidFill>
                <a:latin typeface="Tahoma" panose="020B0604030504040204" pitchFamily="34" charset="0"/>
                <a:ea typeface="Tahoma" panose="020B0604030504040204" pitchFamily="34" charset="0"/>
                <a:cs typeface="Tahoma" panose="020B0604030504040204" pitchFamily="34" charset="0"/>
                <a:sym typeface="Montserrat"/>
              </a:rPr>
              <a:t>nhiên</a:t>
            </a:r>
            <a:endParaRPr lang="en-US" sz="1200"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a:endParaRPr>
          </a:p>
          <a:p>
            <a:pPr algn="ctr">
              <a:lnSpc>
                <a:spcPts val="2099"/>
              </a:lnSpc>
            </a:pPr>
            <a:r>
              <a:rPr lang="en-US" sz="1600" b="1"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Bold"/>
              </a:rPr>
              <a:t>English Vietnamese Translation  </a:t>
            </a:r>
          </a:p>
          <a:p>
            <a:pPr algn="ctr">
              <a:lnSpc>
                <a:spcPts val="2099"/>
              </a:lnSpc>
            </a:pPr>
            <a:r>
              <a:rPr lang="en-US" sz="1600" b="1" spc="-4" dirty="0">
                <a:solidFill>
                  <a:srgbClr val="F3F6F9"/>
                </a:solidFill>
                <a:latin typeface="Tahoma" panose="020B0604030504040204" pitchFamily="34" charset="0"/>
                <a:ea typeface="Tahoma" panose="020B0604030504040204" pitchFamily="34" charset="0"/>
                <a:cs typeface="Tahoma" panose="020B0604030504040204" pitchFamily="34" charset="0"/>
                <a:sym typeface="Montserrat Bold"/>
              </a:rPr>
              <a:t>Using Transformer Based Model</a:t>
            </a:r>
          </a:p>
        </p:txBody>
      </p:sp>
      <p:sp>
        <p:nvSpPr>
          <p:cNvPr id="7" name="TextBox 7"/>
          <p:cNvSpPr txBox="1"/>
          <p:nvPr/>
        </p:nvSpPr>
        <p:spPr>
          <a:xfrm>
            <a:off x="1657350" y="2094429"/>
            <a:ext cx="3750837" cy="607410"/>
          </a:xfrm>
          <a:prstGeom prst="rect">
            <a:avLst/>
          </a:prstGeom>
        </p:spPr>
        <p:txBody>
          <a:bodyPr lIns="0" tIns="0" rIns="0" bIns="0" rtlCol="0" anchor="t">
            <a:spAutoFit/>
          </a:bodyPr>
          <a:lstStyle/>
          <a:p>
            <a:pPr algn="l">
              <a:lnSpc>
                <a:spcPts val="1241"/>
              </a:lnSpc>
            </a:pP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Giảng</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a:t>
            </a: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viên</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a:t>
            </a: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hướng</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a:t>
            </a: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dẫn</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TS. Nguyễn Xuân Đức</a:t>
            </a:r>
          </a:p>
          <a:p>
            <a:pPr algn="l">
              <a:lnSpc>
                <a:spcPts val="1241"/>
              </a:lnSpc>
            </a:pP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Học </a:t>
            </a: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viên</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a:t>
            </a: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thực</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a:t>
            </a:r>
            <a:r>
              <a:rPr lang="en-US" sz="900" spc="-2"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hiện</a:t>
            </a: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  </a:t>
            </a:r>
          </a:p>
          <a:p>
            <a:pPr marL="1360170" lvl="7" indent="-170021" algn="l">
              <a:lnSpc>
                <a:spcPts val="1241"/>
              </a:lnSpc>
              <a:buAutoNum type="arabicPeriod"/>
            </a:pP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LÊ VĂN MẠNH - B25CHKH074</a:t>
            </a:r>
          </a:p>
          <a:p>
            <a:pPr marL="1360170" lvl="7" indent="-170021" algn="l">
              <a:lnSpc>
                <a:spcPts val="1241"/>
              </a:lnSpc>
              <a:buAutoNum type="arabicPeriod"/>
            </a:pPr>
            <a:r>
              <a:rPr lang="en-US" sz="900"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NGUYỄN QUANG HOÀN - B25CHKH066</a:t>
            </a:r>
          </a:p>
        </p:txBody>
      </p:sp>
      <p:sp>
        <p:nvSpPr>
          <p:cNvPr id="8" name="TextBox 8"/>
          <p:cNvSpPr txBox="1"/>
          <p:nvPr/>
        </p:nvSpPr>
        <p:spPr>
          <a:xfrm>
            <a:off x="3923840" y="2842787"/>
            <a:ext cx="629110" cy="115031"/>
          </a:xfrm>
          <a:prstGeom prst="rect">
            <a:avLst/>
          </a:prstGeom>
        </p:spPr>
        <p:txBody>
          <a:bodyPr wrap="square" lIns="0" tIns="0" rIns="0" bIns="0" rtlCol="0" anchor="t">
            <a:spAutoFit/>
          </a:bodyPr>
          <a:lstStyle/>
          <a:p>
            <a:pPr algn="l">
              <a:lnSpc>
                <a:spcPts val="1004"/>
              </a:lnSpc>
            </a:pPr>
            <a:r>
              <a:rPr lang="en-US" sz="717" spc="-2"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a:rPr>
              <a:t>26/04/2026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F"/>
        </a:solidFill>
        <a:effectLst/>
      </p:bgPr>
    </p:bg>
    <p:spTree>
      <p:nvGrpSpPr>
        <p:cNvPr id="1" name=""/>
        <p:cNvGrpSpPr/>
        <p:nvPr/>
      </p:nvGrpSpPr>
      <p:grpSpPr>
        <a:xfrm>
          <a:off x="0" y="0"/>
          <a:ext cx="0" cy="0"/>
          <a:chOff x="0" y="0"/>
          <a:chExt cx="0" cy="0"/>
        </a:xfrm>
      </p:grpSpPr>
      <p:sp>
        <p:nvSpPr>
          <p:cNvPr id="2" name="TextBox 2"/>
          <p:cNvSpPr txBox="1"/>
          <p:nvPr/>
        </p:nvSpPr>
        <p:spPr>
          <a:xfrm>
            <a:off x="323849" y="182553"/>
            <a:ext cx="1562101" cy="332848"/>
          </a:xfrm>
          <a:prstGeom prst="rect">
            <a:avLst/>
          </a:prstGeom>
        </p:spPr>
        <p:txBody>
          <a:bodyPr wrap="square" lIns="0" tIns="0" rIns="0" bIns="0" rtlCol="0" anchor="t">
            <a:spAutoFit/>
          </a:bodyPr>
          <a:lstStyle/>
          <a:p>
            <a:pPr algn="l">
              <a:lnSpc>
                <a:spcPts val="2869"/>
              </a:lnSpc>
            </a:pPr>
            <a:r>
              <a:rPr lang="en-US" sz="2049"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Nội</a:t>
            </a:r>
            <a:r>
              <a:rPr lang="en-US" sz="2049"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dung</a:t>
            </a:r>
          </a:p>
        </p:txBody>
      </p:sp>
      <p:sp>
        <p:nvSpPr>
          <p:cNvPr id="3" name="TextBox 3"/>
          <p:cNvSpPr txBox="1"/>
          <p:nvPr/>
        </p:nvSpPr>
        <p:spPr>
          <a:xfrm>
            <a:off x="349411" y="731635"/>
            <a:ext cx="3227945" cy="1736437"/>
          </a:xfrm>
          <a:prstGeom prst="rect">
            <a:avLst/>
          </a:prstGeom>
        </p:spPr>
        <p:txBody>
          <a:bodyPr wrap="square" lIns="0" tIns="0" rIns="0" bIns="0" rtlCol="0" anchor="t">
            <a:spAutoFit/>
          </a:bodyPr>
          <a:lstStyle/>
          <a:p>
            <a:pPr marL="228600" indent="-228600" algn="l">
              <a:lnSpc>
                <a:spcPts val="2304"/>
              </a:lnSpc>
              <a:buAutoNum type="arabicPeriod"/>
            </a:pP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Giới</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thiệu</a:t>
            </a:r>
            <a:endPar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a:p>
            <a:pPr marL="228600" indent="-228600" algn="l">
              <a:lnSpc>
                <a:spcPts val="2304"/>
              </a:lnSpc>
              <a:buAutoNum type="arabicPeriod"/>
            </a:pP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Bộ</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dữ</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liệu</a:t>
            </a:r>
            <a:endPar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a:p>
            <a:pPr marL="228600" indent="-228600" algn="l">
              <a:lnSpc>
                <a:spcPts val="2304"/>
              </a:lnSpc>
              <a:buAutoNum type="arabicPeriod"/>
            </a:pP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Chỉ</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số</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đánh</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giá</a:t>
            </a:r>
            <a:endPar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a:p>
            <a:pPr marL="228600" indent="-228600" algn="l">
              <a:lnSpc>
                <a:spcPts val="2304"/>
              </a:lnSpc>
              <a:buAutoNum type="arabicPeriod"/>
            </a:pP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Phương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pháp</a:t>
            </a:r>
            <a:endPar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a:p>
            <a:pPr marL="228600" indent="-228600" algn="l">
              <a:lnSpc>
                <a:spcPts val="2304"/>
              </a:lnSpc>
              <a:buAutoNum type="arabicPeriod"/>
            </a:pP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Kết</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quả</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thực</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nghiệm</a:t>
            </a:r>
            <a:endPar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a:p>
            <a:pPr marL="228600" indent="-228600" algn="l">
              <a:lnSpc>
                <a:spcPts val="2304"/>
              </a:lnSpc>
              <a:buAutoNum type="arabicPeriod"/>
            </a:pP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Kết</a:t>
            </a:r>
            <a:r>
              <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200" b="1"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luận</a:t>
            </a:r>
            <a:endParaRPr lang="en-US" sz="1200" b="1"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6" name="TextBox 5">
            <a:extLst>
              <a:ext uri="{FF2B5EF4-FFF2-40B4-BE49-F238E27FC236}">
                <a16:creationId xmlns:a16="http://schemas.microsoft.com/office/drawing/2014/main" id="{1A3B45B4-54EB-D63C-8B42-A98CADA42C8D}"/>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15" y="0"/>
            <a:ext cx="5760015" cy="3244567"/>
            <a:chOff x="0" y="0"/>
            <a:chExt cx="7680020" cy="4326090"/>
          </a:xfrm>
        </p:grpSpPr>
        <p:sp>
          <p:nvSpPr>
            <p:cNvPr id="3" name="Freeform 3"/>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txBody>
            <a:bodyPr/>
            <a:lstStyle/>
            <a:p>
              <a:endParaRPr lang="en-US" dirty="0"/>
            </a:p>
          </p:txBody>
        </p:sp>
      </p:grpSp>
      <p:grpSp>
        <p:nvGrpSpPr>
          <p:cNvPr id="4" name="Group 4"/>
          <p:cNvGrpSpPr/>
          <p:nvPr/>
        </p:nvGrpSpPr>
        <p:grpSpPr>
          <a:xfrm>
            <a:off x="323849" y="1931844"/>
            <a:ext cx="5219700" cy="25403"/>
            <a:chOff x="0" y="0"/>
            <a:chExt cx="6959600" cy="33871"/>
          </a:xfrm>
        </p:grpSpPr>
        <p:sp>
          <p:nvSpPr>
            <p:cNvPr id="5" name="Freeform 5"/>
            <p:cNvSpPr/>
            <p:nvPr/>
          </p:nvSpPr>
          <p:spPr>
            <a:xfrm>
              <a:off x="0" y="0"/>
              <a:ext cx="6959600" cy="33909"/>
            </a:xfrm>
            <a:custGeom>
              <a:avLst/>
              <a:gdLst/>
              <a:ahLst/>
              <a:cxnLst/>
              <a:rect l="l" t="t" r="r" b="b"/>
              <a:pathLst>
                <a:path w="6959600" h="33909">
                  <a:moveTo>
                    <a:pt x="0" y="0"/>
                  </a:moveTo>
                  <a:lnTo>
                    <a:pt x="6959600" y="0"/>
                  </a:lnTo>
                  <a:lnTo>
                    <a:pt x="6959600" y="33909"/>
                  </a:lnTo>
                  <a:lnTo>
                    <a:pt x="0" y="33909"/>
                  </a:lnTo>
                  <a:lnTo>
                    <a:pt x="0" y="0"/>
                  </a:lnTo>
                  <a:close/>
                </a:path>
              </a:pathLst>
            </a:custGeom>
            <a:blipFill>
              <a:blip r:embed="rId3"/>
              <a:stretch>
                <a:fillRect b="112"/>
              </a:stretch>
            </a:blipFill>
          </p:spPr>
        </p:sp>
      </p:grpSp>
      <p:sp>
        <p:nvSpPr>
          <p:cNvPr id="6" name="TextBox 6"/>
          <p:cNvSpPr txBox="1"/>
          <p:nvPr/>
        </p:nvSpPr>
        <p:spPr>
          <a:xfrm>
            <a:off x="323849" y="1429062"/>
            <a:ext cx="5260321" cy="321948"/>
          </a:xfrm>
          <a:prstGeom prst="rect">
            <a:avLst/>
          </a:prstGeom>
        </p:spPr>
        <p:txBody>
          <a:bodyPr lIns="0" tIns="0" rIns="0" bIns="0" rtlCol="0" anchor="t">
            <a:spAutoFit/>
          </a:bodyPr>
          <a:lstStyle/>
          <a:p>
            <a:pPr algn="l">
              <a:lnSpc>
                <a:spcPts val="2800"/>
              </a:lnSpc>
            </a:pP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1.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Giới</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thiệu</a:t>
            </a:r>
            <a:endPar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8" name="TextBox 7">
            <a:extLst>
              <a:ext uri="{FF2B5EF4-FFF2-40B4-BE49-F238E27FC236}">
                <a16:creationId xmlns:a16="http://schemas.microsoft.com/office/drawing/2014/main" id="{74EDBDC2-A603-6DD2-E726-A846171FE3BD}"/>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2</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1D5B5F7-D29E-3CEE-BE95-73A68B4B75C9}"/>
              </a:ext>
            </a:extLst>
          </p:cNvPr>
          <p:cNvGrpSpPr/>
          <p:nvPr/>
        </p:nvGrpSpPr>
        <p:grpSpPr>
          <a:xfrm>
            <a:off x="3897696" y="628650"/>
            <a:ext cx="1578312" cy="1559838"/>
            <a:chOff x="3467343" y="1440031"/>
            <a:chExt cx="1407120" cy="1390650"/>
          </a:xfrm>
        </p:grpSpPr>
        <p:pic>
          <p:nvPicPr>
            <p:cNvPr id="14" name="Picture 13">
              <a:extLst>
                <a:ext uri="{FF2B5EF4-FFF2-40B4-BE49-F238E27FC236}">
                  <a16:creationId xmlns:a16="http://schemas.microsoft.com/office/drawing/2014/main" id="{CECCE259-249D-0C35-261C-2890711D2DA6}"/>
                </a:ext>
              </a:extLst>
            </p:cNvPr>
            <p:cNvPicPr>
              <a:picLocks noChangeAspect="1"/>
            </p:cNvPicPr>
            <p:nvPr/>
          </p:nvPicPr>
          <p:blipFill>
            <a:blip r:embed="rId2"/>
            <a:stretch>
              <a:fillRect/>
            </a:stretch>
          </p:blipFill>
          <p:spPr>
            <a:xfrm>
              <a:off x="3486150" y="1440031"/>
              <a:ext cx="1388313" cy="1390650"/>
            </a:xfrm>
            <a:prstGeom prst="rect">
              <a:avLst/>
            </a:prstGeom>
          </p:spPr>
        </p:pic>
        <p:sp>
          <p:nvSpPr>
            <p:cNvPr id="15" name="Arrow: Curved Down 14">
              <a:extLst>
                <a:ext uri="{FF2B5EF4-FFF2-40B4-BE49-F238E27FC236}">
                  <a16:creationId xmlns:a16="http://schemas.microsoft.com/office/drawing/2014/main" id="{2F64409B-ECA5-280B-F552-E712F15E3970}"/>
                </a:ext>
              </a:extLst>
            </p:cNvPr>
            <p:cNvSpPr/>
            <p:nvPr/>
          </p:nvSpPr>
          <p:spPr>
            <a:xfrm rot="6916398" flipV="1">
              <a:off x="3279233" y="1842636"/>
              <a:ext cx="697943" cy="32172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 name="TextBox 2"/>
          <p:cNvSpPr txBox="1"/>
          <p:nvPr/>
        </p:nvSpPr>
        <p:spPr>
          <a:xfrm>
            <a:off x="277092" y="277825"/>
            <a:ext cx="2675658" cy="241476"/>
          </a:xfrm>
          <a:prstGeom prst="rect">
            <a:avLst/>
          </a:prstGeom>
        </p:spPr>
        <p:txBody>
          <a:bodyPr wrap="square" lIns="0" tIns="0" rIns="0" bIns="0" rtlCol="0" anchor="t">
            <a:spAutoFit/>
          </a:bodyPr>
          <a:lstStyle/>
          <a:p>
            <a:pPr algn="l">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1.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Giới</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thiệu</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đề</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tài</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8490BFEA-3E0E-B11C-AFDC-F80A348B1838}"/>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3</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96867702-8161-7F10-4877-524B422A20C7}"/>
              </a:ext>
            </a:extLst>
          </p:cNvPr>
          <p:cNvSpPr txBox="1"/>
          <p:nvPr/>
        </p:nvSpPr>
        <p:spPr>
          <a:xfrm>
            <a:off x="277092" y="524496"/>
            <a:ext cx="3437658" cy="1933863"/>
          </a:xfrm>
          <a:prstGeom prst="rect">
            <a:avLst/>
          </a:prstGeom>
          <a:noFill/>
        </p:spPr>
        <p:txBody>
          <a:bodyPr wrap="square" rtlCol="0">
            <a:spAutoFit/>
          </a:bodyPr>
          <a:lstStyle/>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Bài toán English–Vietnamese Machine Translation là bài toán chuyển đổi tự động một câu hoặc đoạn văn từ ngôn ngữ nguồn (tiếng Anh) sang ngôn ngữ đích (tiếng Việt), sao cho nội dung được bảo toàn và cách diễn đạt phù hợp với ngữ pháp của ngôn ngữ đích.</a:t>
            </a:r>
            <a:r>
              <a:rPr lang="en-US" sz="900" dirty="0">
                <a:latin typeface="Tahoma" panose="020B0604030504040204" pitchFamily="34" charset="0"/>
                <a:ea typeface="Tahoma" panose="020B0604030504040204" pitchFamily="34" charset="0"/>
                <a:cs typeface="Tahoma" panose="020B0604030504040204" pitchFamily="34" charset="0"/>
              </a:rPr>
              <a:t> </a:t>
            </a:r>
          </a:p>
          <a:p>
            <a:pPr marL="401638" indent="-171450" algn="just">
              <a:lnSpc>
                <a:spcPct val="150000"/>
              </a:lnSpc>
              <a:buFont typeface="Arial" panose="020B0604020202020204" pitchFamily="34" charset="0"/>
              <a:buChar char="•"/>
            </a:pPr>
            <a:r>
              <a:rPr lang="en-US" sz="900" dirty="0" err="1">
                <a:latin typeface="Tahoma" panose="020B0604030504040204" pitchFamily="34" charset="0"/>
                <a:ea typeface="Tahoma" panose="020B0604030504040204" pitchFamily="34" charset="0"/>
                <a:cs typeface="Tahoma" panose="020B0604030504040204" pitchFamily="34" charset="0"/>
              </a:rPr>
              <a:t>Đầu</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vào</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chuỗi</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bằng</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tiếng</a:t>
            </a:r>
            <a:r>
              <a:rPr lang="en-US" sz="900" dirty="0">
                <a:latin typeface="Tahoma" panose="020B0604030504040204" pitchFamily="34" charset="0"/>
                <a:ea typeface="Tahoma" panose="020B0604030504040204" pitchFamily="34" charset="0"/>
                <a:cs typeface="Tahoma" panose="020B0604030504040204" pitchFamily="34" charset="0"/>
              </a:rPr>
              <a:t> Anh</a:t>
            </a:r>
          </a:p>
          <a:p>
            <a:pPr marL="401638" indent="-171450" algn="just">
              <a:lnSpc>
                <a:spcPct val="150000"/>
              </a:lnSpc>
              <a:buFont typeface="Arial" panose="020B0604020202020204" pitchFamily="34" charset="0"/>
              <a:buChar char="•"/>
            </a:pPr>
            <a:r>
              <a:rPr lang="en-US" sz="900" dirty="0" err="1">
                <a:latin typeface="Tahoma" panose="020B0604030504040204" pitchFamily="34" charset="0"/>
                <a:ea typeface="Tahoma" panose="020B0604030504040204" pitchFamily="34" charset="0"/>
                <a:cs typeface="Tahoma" panose="020B0604030504040204" pitchFamily="34" charset="0"/>
              </a:rPr>
              <a:t>Đầu</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ra</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chuỗi</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bằng</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tiếng</a:t>
            </a:r>
            <a:r>
              <a:rPr lang="en-US" sz="900" dirty="0">
                <a:latin typeface="Tahoma" panose="020B0604030504040204" pitchFamily="34" charset="0"/>
                <a:ea typeface="Tahoma" panose="020B0604030504040204" pitchFamily="34" charset="0"/>
                <a:cs typeface="Tahoma" panose="020B0604030504040204" pitchFamily="34" charset="0"/>
              </a:rPr>
              <a:t> Việt </a:t>
            </a:r>
            <a:r>
              <a:rPr lang="en-US" sz="900" dirty="0" err="1">
                <a:latin typeface="Tahoma" panose="020B0604030504040204" pitchFamily="34" charset="0"/>
                <a:ea typeface="Tahoma" panose="020B0604030504040204" pitchFamily="34" charset="0"/>
                <a:cs typeface="Tahoma" panose="020B0604030504040204" pitchFamily="34" charset="0"/>
              </a:rPr>
              <a:t>với</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nội</a:t>
            </a:r>
            <a:r>
              <a:rPr lang="en-US" sz="900" dirty="0">
                <a:latin typeface="Tahoma" panose="020B0604030504040204" pitchFamily="34" charset="0"/>
                <a:ea typeface="Tahoma" panose="020B0604030504040204" pitchFamily="34" charset="0"/>
                <a:cs typeface="Tahoma" panose="020B0604030504040204" pitchFamily="34" charset="0"/>
              </a:rPr>
              <a:t> dung </a:t>
            </a:r>
            <a:r>
              <a:rPr lang="en-US" sz="900" dirty="0" err="1">
                <a:latin typeface="Tahoma" panose="020B0604030504040204" pitchFamily="34" charset="0"/>
                <a:ea typeface="Tahoma" panose="020B0604030504040204" pitchFamily="34" charset="0"/>
                <a:cs typeface="Tahoma" panose="020B0604030504040204" pitchFamily="34" charset="0"/>
              </a:rPr>
              <a:t>tương</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ứng</a:t>
            </a:r>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Mục</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tiêu</a:t>
            </a:r>
            <a:r>
              <a:rPr lang="en-US" sz="900" dirty="0">
                <a:latin typeface="Tahoma" panose="020B0604030504040204" pitchFamily="34" charset="0"/>
                <a:ea typeface="Tahoma" panose="020B0604030504040204" pitchFamily="34" charset="0"/>
                <a:cs typeface="Tahoma" panose="020B0604030504040204" pitchFamily="34" charset="0"/>
              </a:rPr>
              <a:t>: </a:t>
            </a:r>
            <a:r>
              <a:rPr lang="vi-VN" sz="900" dirty="0">
                <a:latin typeface="Tahoma" panose="020B0604030504040204" pitchFamily="34" charset="0"/>
                <a:ea typeface="Tahoma" panose="020B0604030504040204" pitchFamily="34" charset="0"/>
                <a:cs typeface="Tahoma" panose="020B0604030504040204" pitchFamily="34" charset="0"/>
              </a:rPr>
              <a:t>xây dựng một mô hình </a:t>
            </a:r>
            <a:r>
              <a:rPr lang="en-US" sz="900" dirty="0">
                <a:latin typeface="Tahoma" panose="020B0604030504040204" pitchFamily="34" charset="0"/>
                <a:ea typeface="Tahoma" panose="020B0604030504040204" pitchFamily="34" charset="0"/>
                <a:cs typeface="Tahoma" panose="020B0604030504040204" pitchFamily="34" charset="0"/>
              </a:rPr>
              <a:t>/</a:t>
            </a:r>
            <a:r>
              <a:rPr lang="vi-VN" sz="900" dirty="0">
                <a:latin typeface="Tahoma" panose="020B0604030504040204" pitchFamily="34" charset="0"/>
                <a:ea typeface="Tahoma" panose="020B0604030504040204" pitchFamily="34" charset="0"/>
                <a:cs typeface="Tahoma" panose="020B0604030504040204" pitchFamily="34" charset="0"/>
              </a:rPr>
              <a:t> phương pháp có khả năng học được mối quan hệ giữa hai ngôn ngữ</a:t>
            </a:r>
            <a:r>
              <a:rPr lang="en-US" sz="900" dirty="0">
                <a:latin typeface="Tahoma" panose="020B0604030504040204" pitchFamily="34" charset="0"/>
                <a:ea typeface="Tahoma" panose="020B0604030504040204" pitchFamily="34" charset="0"/>
                <a:cs typeface="Tahoma" panose="020B0604030504040204" pitchFamily="3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04EC4-D32A-9758-E082-2C7629A39B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50E64E-1999-3DBE-0968-49DCA62FADF0}"/>
              </a:ext>
            </a:extLst>
          </p:cNvPr>
          <p:cNvGrpSpPr/>
          <p:nvPr/>
        </p:nvGrpSpPr>
        <p:grpSpPr>
          <a:xfrm>
            <a:off x="-6915" y="0"/>
            <a:ext cx="5760015" cy="3244567"/>
            <a:chOff x="0" y="0"/>
            <a:chExt cx="7680020" cy="4326090"/>
          </a:xfrm>
        </p:grpSpPr>
        <p:sp>
          <p:nvSpPr>
            <p:cNvPr id="3" name="Freeform 3">
              <a:extLst>
                <a:ext uri="{FF2B5EF4-FFF2-40B4-BE49-F238E27FC236}">
                  <a16:creationId xmlns:a16="http://schemas.microsoft.com/office/drawing/2014/main" id="{97FEFDA5-2085-9059-2152-21E2BAAC0E6D}"/>
                </a:ext>
              </a:extLst>
            </p:cNvPr>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D4648252-C1C1-1EA5-16E7-5A8396BDC370}"/>
              </a:ext>
            </a:extLst>
          </p:cNvPr>
          <p:cNvGrpSpPr/>
          <p:nvPr/>
        </p:nvGrpSpPr>
        <p:grpSpPr>
          <a:xfrm>
            <a:off x="323849" y="1931844"/>
            <a:ext cx="5219700" cy="25403"/>
            <a:chOff x="0" y="0"/>
            <a:chExt cx="6959600" cy="33871"/>
          </a:xfrm>
        </p:grpSpPr>
        <p:sp>
          <p:nvSpPr>
            <p:cNvPr id="5" name="Freeform 5">
              <a:extLst>
                <a:ext uri="{FF2B5EF4-FFF2-40B4-BE49-F238E27FC236}">
                  <a16:creationId xmlns:a16="http://schemas.microsoft.com/office/drawing/2014/main" id="{C7C8F984-1389-0D02-8523-EEC4147CCC9C}"/>
                </a:ext>
              </a:extLst>
            </p:cNvPr>
            <p:cNvSpPr/>
            <p:nvPr/>
          </p:nvSpPr>
          <p:spPr>
            <a:xfrm>
              <a:off x="0" y="0"/>
              <a:ext cx="6959600" cy="33909"/>
            </a:xfrm>
            <a:custGeom>
              <a:avLst/>
              <a:gdLst/>
              <a:ahLst/>
              <a:cxnLst/>
              <a:rect l="l" t="t" r="r" b="b"/>
              <a:pathLst>
                <a:path w="6959600" h="33909">
                  <a:moveTo>
                    <a:pt x="0" y="0"/>
                  </a:moveTo>
                  <a:lnTo>
                    <a:pt x="6959600" y="0"/>
                  </a:lnTo>
                  <a:lnTo>
                    <a:pt x="6959600" y="33909"/>
                  </a:lnTo>
                  <a:lnTo>
                    <a:pt x="0" y="33909"/>
                  </a:lnTo>
                  <a:lnTo>
                    <a:pt x="0" y="0"/>
                  </a:lnTo>
                  <a:close/>
                </a:path>
              </a:pathLst>
            </a:custGeom>
            <a:blipFill>
              <a:blip r:embed="rId3"/>
              <a:stretch>
                <a:fillRect b="112"/>
              </a:stretch>
            </a:blipFill>
          </p:spPr>
        </p:sp>
      </p:grpSp>
      <p:sp>
        <p:nvSpPr>
          <p:cNvPr id="6" name="TextBox 6">
            <a:extLst>
              <a:ext uri="{FF2B5EF4-FFF2-40B4-BE49-F238E27FC236}">
                <a16:creationId xmlns:a16="http://schemas.microsoft.com/office/drawing/2014/main" id="{91233F94-C7A6-85A2-6A5D-120202021890}"/>
              </a:ext>
            </a:extLst>
          </p:cNvPr>
          <p:cNvSpPr txBox="1"/>
          <p:nvPr/>
        </p:nvSpPr>
        <p:spPr>
          <a:xfrm>
            <a:off x="323849" y="1429062"/>
            <a:ext cx="5260321" cy="321948"/>
          </a:xfrm>
          <a:prstGeom prst="rect">
            <a:avLst/>
          </a:prstGeom>
        </p:spPr>
        <p:txBody>
          <a:bodyPr lIns="0" tIns="0" rIns="0" bIns="0" rtlCol="0" anchor="t">
            <a:spAutoFit/>
          </a:bodyPr>
          <a:lstStyle/>
          <a:p>
            <a:pPr algn="l">
              <a:lnSpc>
                <a:spcPts val="2800"/>
              </a:lnSpc>
            </a:pP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2.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Bộ</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dữ</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liệu</a:t>
            </a:r>
            <a:endPar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8" name="TextBox 7">
            <a:extLst>
              <a:ext uri="{FF2B5EF4-FFF2-40B4-BE49-F238E27FC236}">
                <a16:creationId xmlns:a16="http://schemas.microsoft.com/office/drawing/2014/main" id="{B432C683-EB65-2B53-0F18-95072DC8945E}"/>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4</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6675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CB550-9B13-1921-918C-094D58CFB26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5724BA9-1DD4-B8D2-C77B-F73360CD25F2}"/>
              </a:ext>
            </a:extLst>
          </p:cNvPr>
          <p:cNvSpPr txBox="1"/>
          <p:nvPr/>
        </p:nvSpPr>
        <p:spPr>
          <a:xfrm>
            <a:off x="277092" y="277825"/>
            <a:ext cx="2675658" cy="241476"/>
          </a:xfrm>
          <a:prstGeom prst="rect">
            <a:avLst/>
          </a:prstGeom>
        </p:spPr>
        <p:txBody>
          <a:bodyPr wrap="square" lIns="0" tIns="0" rIns="0" bIns="0" rtlCol="0" anchor="t">
            <a:spAutoFit/>
          </a:bodyPr>
          <a:lstStyle/>
          <a:p>
            <a:pPr>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2.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Bộ</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dữ</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liệu</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166F35DD-4946-FC5B-24DA-5C4EFB1FD4E5}"/>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5</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10134E2B-7DA3-8F14-B3D7-1EF4B98F7017}"/>
              </a:ext>
            </a:extLst>
          </p:cNvPr>
          <p:cNvSpPr txBox="1"/>
          <p:nvPr/>
        </p:nvSpPr>
        <p:spPr>
          <a:xfrm>
            <a:off x="277092" y="519301"/>
            <a:ext cx="5190258" cy="1102866"/>
          </a:xfrm>
          <a:prstGeom prst="rect">
            <a:avLst/>
          </a:prstGeom>
          <a:noFill/>
        </p:spPr>
        <p:txBody>
          <a:bodyPr wrap="square" rtlCol="0">
            <a:spAutoFit/>
          </a:bodyPr>
          <a:lstStyle/>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Dữ liệu được sử dụng trong tiểu luận là IWSLT’15 English–Vietnamese (EN–VI), được giới thiệu trong hệ thống dịch máy tham gia cuộc thi IWSLT 2015. </a:t>
            </a:r>
            <a:endParaRPr lang="en-US" sz="900" dirty="0">
              <a:latin typeface="Tahoma" panose="020B0604030504040204" pitchFamily="34" charset="0"/>
              <a:ea typeface="Tahoma" panose="020B0604030504040204" pitchFamily="34" charset="0"/>
              <a:cs typeface="Tahoma" panose="020B0604030504040204" pitchFamily="34" charset="0"/>
            </a:endParaRPr>
          </a:p>
          <a:p>
            <a:pPr marL="285750" indent="227013" algn="just" defTabSz="628650">
              <a:lnSpc>
                <a:spcPct val="150000"/>
              </a:lnSpc>
              <a:tabLst>
                <a:tab pos="687388" algn="l"/>
              </a:tabLst>
            </a:pPr>
            <a:r>
              <a:rPr lang="en-US" sz="900" dirty="0">
                <a:latin typeface="Tahoma" panose="020B0604030504040204" pitchFamily="34" charset="0"/>
                <a:ea typeface="Tahoma" panose="020B0604030504040204" pitchFamily="34" charset="0"/>
                <a:cs typeface="Tahoma" panose="020B0604030504040204" pitchFamily="34" charset="0"/>
              </a:rPr>
              <a:t>•	Train: 133317 </a:t>
            </a:r>
            <a:r>
              <a:rPr lang="en-US" sz="900" dirty="0" err="1">
                <a:latin typeface="Tahoma" panose="020B0604030504040204" pitchFamily="34" charset="0"/>
                <a:ea typeface="Tahoma" panose="020B0604030504040204" pitchFamily="34" charset="0"/>
                <a:cs typeface="Tahoma" panose="020B0604030504040204" pitchFamily="34" charset="0"/>
              </a:rPr>
              <a:t>cặp</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câu</a:t>
            </a:r>
            <a:endParaRPr lang="en-US" sz="900" dirty="0">
              <a:latin typeface="Tahoma" panose="020B0604030504040204" pitchFamily="34" charset="0"/>
              <a:ea typeface="Tahoma" panose="020B0604030504040204" pitchFamily="34" charset="0"/>
              <a:cs typeface="Tahoma" panose="020B0604030504040204" pitchFamily="34" charset="0"/>
            </a:endParaRPr>
          </a:p>
          <a:p>
            <a:pPr marL="285750" indent="227013" algn="just" defTabSz="628650">
              <a:lnSpc>
                <a:spcPct val="150000"/>
              </a:lnSpc>
              <a:tabLst>
                <a:tab pos="687388" algn="l"/>
              </a:tabLst>
            </a:pPr>
            <a:r>
              <a:rPr lang="en-US" sz="900" dirty="0">
                <a:latin typeface="Tahoma" panose="020B0604030504040204" pitchFamily="34" charset="0"/>
                <a:ea typeface="Tahoma" panose="020B0604030504040204" pitchFamily="34" charset="0"/>
                <a:cs typeface="Tahoma" panose="020B0604030504040204" pitchFamily="34" charset="0"/>
              </a:rPr>
              <a:t>•	Validation (Dev): 1,553 </a:t>
            </a:r>
            <a:r>
              <a:rPr lang="en-US" sz="900" dirty="0" err="1">
                <a:latin typeface="Tahoma" panose="020B0604030504040204" pitchFamily="34" charset="0"/>
                <a:ea typeface="Tahoma" panose="020B0604030504040204" pitchFamily="34" charset="0"/>
                <a:cs typeface="Tahoma" panose="020B0604030504040204" pitchFamily="34" charset="0"/>
              </a:rPr>
              <a:t>cặp</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câu</a:t>
            </a:r>
            <a:endParaRPr lang="en-US" sz="900" dirty="0">
              <a:latin typeface="Tahoma" panose="020B0604030504040204" pitchFamily="34" charset="0"/>
              <a:ea typeface="Tahoma" panose="020B0604030504040204" pitchFamily="34" charset="0"/>
              <a:cs typeface="Tahoma" panose="020B0604030504040204" pitchFamily="34" charset="0"/>
            </a:endParaRPr>
          </a:p>
          <a:p>
            <a:pPr marL="285750" indent="227013" algn="just" defTabSz="628650">
              <a:lnSpc>
                <a:spcPct val="150000"/>
              </a:lnSpc>
              <a:tabLst>
                <a:tab pos="687388" algn="l"/>
              </a:tabLst>
            </a:pPr>
            <a:r>
              <a:rPr lang="en-US" sz="900" dirty="0">
                <a:latin typeface="Tahoma" panose="020B0604030504040204" pitchFamily="34" charset="0"/>
                <a:ea typeface="Tahoma" panose="020B0604030504040204" pitchFamily="34" charset="0"/>
                <a:cs typeface="Tahoma" panose="020B0604030504040204" pitchFamily="34" charset="0"/>
              </a:rPr>
              <a:t>•	Test: 1,268 </a:t>
            </a:r>
            <a:r>
              <a:rPr lang="en-US" sz="900" dirty="0" err="1">
                <a:latin typeface="Tahoma" panose="020B0604030504040204" pitchFamily="34" charset="0"/>
                <a:ea typeface="Tahoma" panose="020B0604030504040204" pitchFamily="34" charset="0"/>
                <a:cs typeface="Tahoma" panose="020B0604030504040204" pitchFamily="34" charset="0"/>
              </a:rPr>
              <a:t>cặp</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câu</a:t>
            </a:r>
            <a:endParaRPr lang="en-US" sz="900"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AE666FD7-15A9-4450-C2CB-B04375EA98DA}"/>
              </a:ext>
            </a:extLst>
          </p:cNvPr>
          <p:cNvPicPr>
            <a:picLocks noChangeAspect="1"/>
          </p:cNvPicPr>
          <p:nvPr/>
        </p:nvPicPr>
        <p:blipFill>
          <a:blip r:embed="rId2"/>
          <a:stretch>
            <a:fillRect/>
          </a:stretch>
        </p:blipFill>
        <p:spPr>
          <a:xfrm>
            <a:off x="1007317" y="1745534"/>
            <a:ext cx="3729808" cy="1215141"/>
          </a:xfrm>
          <a:prstGeom prst="rect">
            <a:avLst/>
          </a:prstGeom>
        </p:spPr>
      </p:pic>
    </p:spTree>
    <p:extLst>
      <p:ext uri="{BB962C8B-B14F-4D97-AF65-F5344CB8AC3E}">
        <p14:creationId xmlns:p14="http://schemas.microsoft.com/office/powerpoint/2010/main" val="3048184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EC158-2544-F885-EDD7-F5095D33550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24584FF-893D-EA3C-1849-55BCC6C743FE}"/>
              </a:ext>
            </a:extLst>
          </p:cNvPr>
          <p:cNvSpPr txBox="1"/>
          <p:nvPr/>
        </p:nvSpPr>
        <p:spPr>
          <a:xfrm>
            <a:off x="277092" y="277825"/>
            <a:ext cx="2675658" cy="241476"/>
          </a:xfrm>
          <a:prstGeom prst="rect">
            <a:avLst/>
          </a:prstGeom>
        </p:spPr>
        <p:txBody>
          <a:bodyPr wrap="square" lIns="0" tIns="0" rIns="0" bIns="0" rtlCol="0" anchor="t">
            <a:spAutoFit/>
          </a:bodyPr>
          <a:lstStyle/>
          <a:p>
            <a:pPr>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2.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Bộ</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dữ</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liệu</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0E64B3C3-A5AF-BFA4-645E-AC907D31A032}"/>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6</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D3AFBB33-3DB2-E86D-C89C-04C5033EA301}"/>
              </a:ext>
            </a:extLst>
          </p:cNvPr>
          <p:cNvSpPr txBox="1"/>
          <p:nvPr/>
        </p:nvSpPr>
        <p:spPr>
          <a:xfrm>
            <a:off x="277092" y="519301"/>
            <a:ext cx="5190258" cy="522644"/>
          </a:xfrm>
          <a:prstGeom prst="rect">
            <a:avLst/>
          </a:prstGeom>
          <a:noFill/>
        </p:spPr>
        <p:txBody>
          <a:bodyPr wrap="square" rtlCol="0">
            <a:spAutoFit/>
          </a:bodyPr>
          <a:lstStyle/>
          <a:p>
            <a:pPr algn="just">
              <a:lnSpc>
                <a:spcPct val="150000"/>
              </a:lnSpc>
            </a:pPr>
            <a:r>
              <a:rPr lang="vi-VN" sz="1000" dirty="0">
                <a:latin typeface="Tahoma" panose="020B0604030504040204" pitchFamily="34" charset="0"/>
                <a:ea typeface="Tahoma" panose="020B0604030504040204" pitchFamily="34" charset="0"/>
                <a:cs typeface="Tahoma" panose="020B0604030504040204" pitchFamily="34" charset="0"/>
              </a:rPr>
              <a:t>Các câu tiếng Anh có độ dài trung bình khoảng 20 từ, trong khi câu tiếng Việt dài hơn với trung bình khoảng 24 từ. </a:t>
            </a:r>
            <a:endParaRPr lang="en-US" sz="1000"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C615D624-5BA6-7951-5B01-ACCB5DF0B7F1}"/>
              </a:ext>
            </a:extLst>
          </p:cNvPr>
          <p:cNvPicPr>
            <a:picLocks noChangeAspect="1"/>
          </p:cNvPicPr>
          <p:nvPr/>
        </p:nvPicPr>
        <p:blipFill>
          <a:blip r:embed="rId2"/>
          <a:srcRect b="6289"/>
          <a:stretch>
            <a:fillRect/>
          </a:stretch>
        </p:blipFill>
        <p:spPr>
          <a:xfrm>
            <a:off x="457633" y="1017122"/>
            <a:ext cx="4829175" cy="1897528"/>
          </a:xfrm>
          <a:prstGeom prst="rect">
            <a:avLst/>
          </a:prstGeom>
        </p:spPr>
      </p:pic>
    </p:spTree>
    <p:extLst>
      <p:ext uri="{BB962C8B-B14F-4D97-AF65-F5344CB8AC3E}">
        <p14:creationId xmlns:p14="http://schemas.microsoft.com/office/powerpoint/2010/main" val="2217911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BA98C-2B18-E0D0-325A-B30144CA306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E990CC1-99DC-1C34-6062-9218788FA6B4}"/>
              </a:ext>
            </a:extLst>
          </p:cNvPr>
          <p:cNvSpPr txBox="1"/>
          <p:nvPr/>
        </p:nvSpPr>
        <p:spPr>
          <a:xfrm>
            <a:off x="277092" y="277825"/>
            <a:ext cx="2675658" cy="241476"/>
          </a:xfrm>
          <a:prstGeom prst="rect">
            <a:avLst/>
          </a:prstGeom>
        </p:spPr>
        <p:txBody>
          <a:bodyPr wrap="square" lIns="0" tIns="0" rIns="0" bIns="0" rtlCol="0" anchor="t">
            <a:spAutoFit/>
          </a:bodyPr>
          <a:lstStyle/>
          <a:p>
            <a:pPr>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2.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Bộ</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dữ</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liệu</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83B4C58D-C39F-4D7F-A486-511AC22DE1E2}"/>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7</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A793978E-54BC-7D8E-1117-DA263BE110D4}"/>
              </a:ext>
            </a:extLst>
          </p:cNvPr>
          <p:cNvSpPr txBox="1"/>
          <p:nvPr/>
        </p:nvSpPr>
        <p:spPr>
          <a:xfrm>
            <a:off x="277092" y="519301"/>
            <a:ext cx="2523258" cy="1726114"/>
          </a:xfrm>
          <a:prstGeom prst="rect">
            <a:avLst/>
          </a:prstGeom>
          <a:noFill/>
        </p:spPr>
        <p:txBody>
          <a:bodyPr wrap="square" rtlCol="0">
            <a:spAutoFit/>
          </a:bodyPr>
          <a:lstStyle/>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Phân tích tỷ lệ số từ trong cặp câu tiếng Anh và tiếng Việt cho thấy rằng câu tiếng Việt thường dài hơn tiếng Anh trong cùng một nội dung do khác biệt về cấu trúc cú pháp và cách diễn đạt. </a:t>
            </a:r>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Phần lớn các cặp câu tập trung trong khoảng tỷ lệ ổn định (xấp xỉ 1.0 – 1.5).</a:t>
            </a:r>
            <a:endParaRPr lang="en-US" sz="900"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710BBCB2-2525-25FA-1F2D-66CCE1704971}"/>
              </a:ext>
            </a:extLst>
          </p:cNvPr>
          <p:cNvPicPr>
            <a:picLocks noChangeAspect="1"/>
          </p:cNvPicPr>
          <p:nvPr/>
        </p:nvPicPr>
        <p:blipFill>
          <a:blip r:embed="rId2"/>
          <a:srcRect b="10842"/>
          <a:stretch>
            <a:fillRect/>
          </a:stretch>
        </p:blipFill>
        <p:spPr>
          <a:xfrm>
            <a:off x="3056137" y="552451"/>
            <a:ext cx="2299799" cy="1752600"/>
          </a:xfrm>
          <a:prstGeom prst="rect">
            <a:avLst/>
          </a:prstGeom>
        </p:spPr>
      </p:pic>
    </p:spTree>
    <p:extLst>
      <p:ext uri="{BB962C8B-B14F-4D97-AF65-F5344CB8AC3E}">
        <p14:creationId xmlns:p14="http://schemas.microsoft.com/office/powerpoint/2010/main" val="3381306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56450-1825-0FEC-F973-1A7319220D8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BA42AFC-5B16-BA2D-862F-FEDFFF92918E}"/>
              </a:ext>
            </a:extLst>
          </p:cNvPr>
          <p:cNvSpPr txBox="1"/>
          <p:nvPr/>
        </p:nvSpPr>
        <p:spPr>
          <a:xfrm>
            <a:off x="277092" y="277825"/>
            <a:ext cx="2675658" cy="241476"/>
          </a:xfrm>
          <a:prstGeom prst="rect">
            <a:avLst/>
          </a:prstGeom>
        </p:spPr>
        <p:txBody>
          <a:bodyPr wrap="square" lIns="0" tIns="0" rIns="0" bIns="0" rtlCol="0" anchor="t">
            <a:spAutoFit/>
          </a:bodyPr>
          <a:lstStyle/>
          <a:p>
            <a:pPr>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2.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Bộ</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dữ</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liệu</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A8238508-9765-79D7-888F-0EC81EE46D4E}"/>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8</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453662D7-0E70-A363-80DB-BE9714FC2735}"/>
              </a:ext>
            </a:extLst>
          </p:cNvPr>
          <p:cNvSpPr txBox="1"/>
          <p:nvPr/>
        </p:nvSpPr>
        <p:spPr>
          <a:xfrm>
            <a:off x="277092" y="519301"/>
            <a:ext cx="5114058" cy="895117"/>
          </a:xfrm>
          <a:prstGeom prst="rect">
            <a:avLst/>
          </a:prstGeom>
          <a:noFill/>
        </p:spPr>
        <p:txBody>
          <a:bodyPr wrap="square" rtlCol="0">
            <a:spAutoFit/>
          </a:bodyPr>
          <a:lstStyle/>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Phân bố tần suất từ trong tập dữ liệu cho thấy một số từ xuất hiện với tần suất rất cao, trong khi phần lớn các từ còn lại có tần suất thấp. </a:t>
            </a:r>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Các từ xuất hiện nhiều chủ yếu là các stopwords và từ chức năng (function words), đóng vai trò kết nối ngữ pháp trong câu.</a:t>
            </a:r>
            <a:endParaRPr lang="en-US" sz="900"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CDCCCFF2-0F0E-DD70-1334-554744CC9ADD}"/>
              </a:ext>
            </a:extLst>
          </p:cNvPr>
          <p:cNvPicPr>
            <a:picLocks noChangeAspect="1"/>
          </p:cNvPicPr>
          <p:nvPr/>
        </p:nvPicPr>
        <p:blipFill>
          <a:blip r:embed="rId2"/>
          <a:srcRect b="7822"/>
          <a:stretch>
            <a:fillRect/>
          </a:stretch>
        </p:blipFill>
        <p:spPr>
          <a:xfrm>
            <a:off x="214466" y="1665275"/>
            <a:ext cx="2651125" cy="1295400"/>
          </a:xfrm>
          <a:prstGeom prst="rect">
            <a:avLst/>
          </a:prstGeom>
        </p:spPr>
      </p:pic>
      <p:pic>
        <p:nvPicPr>
          <p:cNvPr id="7" name="Picture 6">
            <a:extLst>
              <a:ext uri="{FF2B5EF4-FFF2-40B4-BE49-F238E27FC236}">
                <a16:creationId xmlns:a16="http://schemas.microsoft.com/office/drawing/2014/main" id="{F33383F7-F1A8-0B42-91A5-890BCFF0B313}"/>
              </a:ext>
            </a:extLst>
          </p:cNvPr>
          <p:cNvPicPr>
            <a:picLocks noChangeAspect="1"/>
          </p:cNvPicPr>
          <p:nvPr/>
        </p:nvPicPr>
        <p:blipFill>
          <a:blip r:embed="rId3"/>
          <a:stretch>
            <a:fillRect/>
          </a:stretch>
        </p:blipFill>
        <p:spPr>
          <a:xfrm>
            <a:off x="2971800" y="1703045"/>
            <a:ext cx="2566834" cy="1211605"/>
          </a:xfrm>
          <a:prstGeom prst="rect">
            <a:avLst/>
          </a:prstGeom>
        </p:spPr>
      </p:pic>
    </p:spTree>
    <p:extLst>
      <p:ext uri="{BB962C8B-B14F-4D97-AF65-F5344CB8AC3E}">
        <p14:creationId xmlns:p14="http://schemas.microsoft.com/office/powerpoint/2010/main" val="2714120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32BB9-04FA-42A2-C852-3FE66322317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F6F0D9B-7E9C-F751-D2C4-5C33D9ECC334}"/>
              </a:ext>
            </a:extLst>
          </p:cNvPr>
          <p:cNvGrpSpPr/>
          <p:nvPr/>
        </p:nvGrpSpPr>
        <p:grpSpPr>
          <a:xfrm>
            <a:off x="-6915" y="0"/>
            <a:ext cx="5760015" cy="3244567"/>
            <a:chOff x="0" y="0"/>
            <a:chExt cx="7680020" cy="4326090"/>
          </a:xfrm>
        </p:grpSpPr>
        <p:sp>
          <p:nvSpPr>
            <p:cNvPr id="3" name="Freeform 3">
              <a:extLst>
                <a:ext uri="{FF2B5EF4-FFF2-40B4-BE49-F238E27FC236}">
                  <a16:creationId xmlns:a16="http://schemas.microsoft.com/office/drawing/2014/main" id="{8BA90DEE-526D-72B9-E2F1-ADCCB540B7E8}"/>
                </a:ext>
              </a:extLst>
            </p:cNvPr>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0FD0A2FC-5001-B999-FA51-E91349DBA4E3}"/>
              </a:ext>
            </a:extLst>
          </p:cNvPr>
          <p:cNvGrpSpPr/>
          <p:nvPr/>
        </p:nvGrpSpPr>
        <p:grpSpPr>
          <a:xfrm>
            <a:off x="323849" y="1931844"/>
            <a:ext cx="5219700" cy="25403"/>
            <a:chOff x="0" y="0"/>
            <a:chExt cx="6959600" cy="33871"/>
          </a:xfrm>
        </p:grpSpPr>
        <p:sp>
          <p:nvSpPr>
            <p:cNvPr id="5" name="Freeform 5">
              <a:extLst>
                <a:ext uri="{FF2B5EF4-FFF2-40B4-BE49-F238E27FC236}">
                  <a16:creationId xmlns:a16="http://schemas.microsoft.com/office/drawing/2014/main" id="{BD94164D-68E8-9C54-6F2F-DD80CB7249D7}"/>
                </a:ext>
              </a:extLst>
            </p:cNvPr>
            <p:cNvSpPr/>
            <p:nvPr/>
          </p:nvSpPr>
          <p:spPr>
            <a:xfrm>
              <a:off x="0" y="0"/>
              <a:ext cx="6959600" cy="33909"/>
            </a:xfrm>
            <a:custGeom>
              <a:avLst/>
              <a:gdLst/>
              <a:ahLst/>
              <a:cxnLst/>
              <a:rect l="l" t="t" r="r" b="b"/>
              <a:pathLst>
                <a:path w="6959600" h="33909">
                  <a:moveTo>
                    <a:pt x="0" y="0"/>
                  </a:moveTo>
                  <a:lnTo>
                    <a:pt x="6959600" y="0"/>
                  </a:lnTo>
                  <a:lnTo>
                    <a:pt x="6959600" y="33909"/>
                  </a:lnTo>
                  <a:lnTo>
                    <a:pt x="0" y="33909"/>
                  </a:lnTo>
                  <a:lnTo>
                    <a:pt x="0" y="0"/>
                  </a:lnTo>
                  <a:close/>
                </a:path>
              </a:pathLst>
            </a:custGeom>
            <a:blipFill>
              <a:blip r:embed="rId3"/>
              <a:stretch>
                <a:fillRect b="112"/>
              </a:stretch>
            </a:blipFill>
          </p:spPr>
        </p:sp>
      </p:grpSp>
      <p:sp>
        <p:nvSpPr>
          <p:cNvPr id="6" name="TextBox 6">
            <a:extLst>
              <a:ext uri="{FF2B5EF4-FFF2-40B4-BE49-F238E27FC236}">
                <a16:creationId xmlns:a16="http://schemas.microsoft.com/office/drawing/2014/main" id="{EDBBBC8C-DAC1-DCA7-897A-EA4DD26751F8}"/>
              </a:ext>
            </a:extLst>
          </p:cNvPr>
          <p:cNvSpPr txBox="1"/>
          <p:nvPr/>
        </p:nvSpPr>
        <p:spPr>
          <a:xfrm>
            <a:off x="323849" y="1429062"/>
            <a:ext cx="5260321" cy="321948"/>
          </a:xfrm>
          <a:prstGeom prst="rect">
            <a:avLst/>
          </a:prstGeom>
        </p:spPr>
        <p:txBody>
          <a:bodyPr lIns="0" tIns="0" rIns="0" bIns="0" rtlCol="0" anchor="t">
            <a:spAutoFit/>
          </a:bodyPr>
          <a:lstStyle/>
          <a:p>
            <a:pPr algn="l">
              <a:lnSpc>
                <a:spcPts val="2800"/>
              </a:lnSpc>
            </a:pP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3.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Chỉ</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số</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đánh</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giá</a:t>
            </a:r>
            <a:endPar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8" name="TextBox 7">
            <a:extLst>
              <a:ext uri="{FF2B5EF4-FFF2-40B4-BE49-F238E27FC236}">
                <a16:creationId xmlns:a16="http://schemas.microsoft.com/office/drawing/2014/main" id="{FDDCEAE5-75D6-1FE0-5CB4-322F23D30A37}"/>
              </a:ext>
            </a:extLst>
          </p:cNvPr>
          <p:cNvSpPr txBox="1"/>
          <p:nvPr/>
        </p:nvSpPr>
        <p:spPr>
          <a:xfrm>
            <a:off x="5391150" y="2914650"/>
            <a:ext cx="2190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9</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27667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4D896-2FFE-B749-55A1-61B4FA4ACA8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1966E7A-0093-2E91-74AF-5AF51EB50EF4}"/>
              </a:ext>
            </a:extLst>
          </p:cNvPr>
          <p:cNvSpPr txBox="1"/>
          <p:nvPr/>
        </p:nvSpPr>
        <p:spPr>
          <a:xfrm>
            <a:off x="277092" y="277825"/>
            <a:ext cx="2675658" cy="241476"/>
          </a:xfrm>
          <a:prstGeom prst="rect">
            <a:avLst/>
          </a:prstGeom>
        </p:spPr>
        <p:txBody>
          <a:bodyPr wrap="square" lIns="0" tIns="0" rIns="0" bIns="0" rtlCol="0" anchor="t">
            <a:spAutoFit/>
          </a:bodyPr>
          <a:lstStyle/>
          <a:p>
            <a:pPr algn="l">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3.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Chỉ</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số</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đánh</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giá</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A47A1B8D-20D4-F10D-C8A3-DB4466DCBF93}"/>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10</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998BBAB9-B693-276C-C0EC-7DB00A345BE3}"/>
              </a:ext>
            </a:extLst>
          </p:cNvPr>
          <p:cNvSpPr txBox="1"/>
          <p:nvPr/>
        </p:nvSpPr>
        <p:spPr>
          <a:xfrm>
            <a:off x="277092" y="628650"/>
            <a:ext cx="5190258" cy="1933863"/>
          </a:xfrm>
          <a:prstGeom prst="rect">
            <a:avLst/>
          </a:prstGeom>
          <a:noFill/>
        </p:spPr>
        <p:txBody>
          <a:bodyPr wrap="square" rtlCol="0">
            <a:spAutoFit/>
          </a:bodyPr>
          <a:lstStyle/>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Trước khi tìm hiểu </a:t>
            </a:r>
            <a:r>
              <a:rPr lang="vi-VN" sz="900" b="1" dirty="0">
                <a:latin typeface="Tahoma" panose="020B0604030504040204" pitchFamily="34" charset="0"/>
                <a:ea typeface="Tahoma" panose="020B0604030504040204" pitchFamily="34" charset="0"/>
                <a:cs typeface="Tahoma" panose="020B0604030504040204" pitchFamily="34" charset="0"/>
              </a:rPr>
              <a:t>Bilingual Evaluation Understudy</a:t>
            </a:r>
            <a:r>
              <a:rPr lang="en-US" sz="900" b="1" dirty="0">
                <a:latin typeface="Tahoma" panose="020B0604030504040204" pitchFamily="34" charset="0"/>
                <a:ea typeface="Tahoma" panose="020B0604030504040204" pitchFamily="34" charset="0"/>
                <a:cs typeface="Tahoma" panose="020B0604030504040204" pitchFamily="34" charset="0"/>
              </a:rPr>
              <a:t> (</a:t>
            </a:r>
            <a:r>
              <a:rPr lang="vi-VN" sz="900" b="1" dirty="0">
                <a:latin typeface="Tahoma" panose="020B0604030504040204" pitchFamily="34" charset="0"/>
                <a:ea typeface="Tahoma" panose="020B0604030504040204" pitchFamily="34" charset="0"/>
                <a:cs typeface="Tahoma" panose="020B0604030504040204" pitchFamily="34" charset="0"/>
              </a:rPr>
              <a:t>BLEU</a:t>
            </a:r>
            <a:r>
              <a:rPr lang="en-US" sz="900" b="1" dirty="0">
                <a:latin typeface="Tahoma" panose="020B0604030504040204" pitchFamily="34" charset="0"/>
                <a:ea typeface="Tahoma" panose="020B0604030504040204" pitchFamily="34" charset="0"/>
                <a:cs typeface="Tahoma" panose="020B0604030504040204" pitchFamily="34" charset="0"/>
              </a:rPr>
              <a:t>)</a:t>
            </a:r>
            <a:r>
              <a:rPr lang="vi-VN" sz="900" dirty="0">
                <a:latin typeface="Tahoma" panose="020B0604030504040204" pitchFamily="34" charset="0"/>
                <a:ea typeface="Tahoma" panose="020B0604030504040204" pitchFamily="34" charset="0"/>
                <a:cs typeface="Tahoma" panose="020B0604030504040204" pitchFamily="34" charset="0"/>
              </a:rPr>
              <a:t>, cần nắm hai khái niệm quan trọng là n-gram và precision.</a:t>
            </a:r>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en-US" sz="900" b="1"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vi-VN" sz="900" b="1" dirty="0">
                <a:latin typeface="Tahoma" panose="020B0604030504040204" pitchFamily="34" charset="0"/>
                <a:ea typeface="Tahoma" panose="020B0604030504040204" pitchFamily="34" charset="0"/>
                <a:cs typeface="Tahoma" panose="020B0604030504040204" pitchFamily="34" charset="0"/>
              </a:rPr>
              <a:t>N-gram</a:t>
            </a:r>
            <a:r>
              <a:rPr lang="vi-VN" sz="900" dirty="0">
                <a:latin typeface="Tahoma" panose="020B0604030504040204" pitchFamily="34" charset="0"/>
                <a:ea typeface="Tahoma" panose="020B0604030504040204" pitchFamily="34" charset="0"/>
                <a:cs typeface="Tahoma" panose="020B0604030504040204" pitchFamily="34" charset="0"/>
              </a:rPr>
              <a:t> là chuỗi gồm n từ liên tiếp nhau trong một câu. Việc sử dụng n-gram giúp đánh giá không chỉ từng từ riêng lẻ mà còn cả ngữ cảnh và trật tự từ trong câu.</a:t>
            </a:r>
            <a:endParaRPr lang="en-US" sz="900" dirty="0">
              <a:latin typeface="Tahoma" panose="020B0604030504040204" pitchFamily="34" charset="0"/>
              <a:ea typeface="Tahoma" panose="020B0604030504040204" pitchFamily="34" charset="0"/>
              <a:cs typeface="Tahoma" panose="020B0604030504040204" pitchFamily="34" charset="0"/>
            </a:endParaRPr>
          </a:p>
          <a:p>
            <a:pPr indent="457200" algn="just" defTabSz="685800">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	1-gram (unigram): đánh giá từng từ đơn lẻ</a:t>
            </a:r>
          </a:p>
          <a:p>
            <a:pPr indent="457200" algn="just" defTabSz="685800">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	2-gram (bigram): đánh giá quan hệ giữa các cặp từ</a:t>
            </a:r>
          </a:p>
          <a:p>
            <a:pPr indent="457200" algn="just" defTabSz="685800">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	3-gram trở lên: đánh giá mức độ mạch lạc và cấu trúc câu</a:t>
            </a:r>
          </a:p>
          <a:p>
            <a:pPr algn="just">
              <a:lnSpc>
                <a:spcPct val="150000"/>
              </a:lnSpc>
            </a:pPr>
            <a:endParaRPr lang="en-US" sz="9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17089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090B-72CE-5258-63D8-0F36E28436D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FD0C813-F437-F723-EFE2-F016190B7ACA}"/>
              </a:ext>
            </a:extLst>
          </p:cNvPr>
          <p:cNvSpPr txBox="1"/>
          <p:nvPr/>
        </p:nvSpPr>
        <p:spPr>
          <a:xfrm>
            <a:off x="277092" y="277825"/>
            <a:ext cx="2675658" cy="241476"/>
          </a:xfrm>
          <a:prstGeom prst="rect">
            <a:avLst/>
          </a:prstGeom>
        </p:spPr>
        <p:txBody>
          <a:bodyPr wrap="square" lIns="0" tIns="0" rIns="0" bIns="0" rtlCol="0" anchor="t">
            <a:spAutoFit/>
          </a:bodyPr>
          <a:lstStyle/>
          <a:p>
            <a:pPr algn="l">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3.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Chỉ</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số</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đánh</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giá</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E145024C-2F5E-05FE-B996-862A615E3F91}"/>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11</a:t>
            </a:r>
            <a:endParaRPr lang="en-US" sz="800"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EDE068E-7D85-543C-6E67-5D8F90FF8B42}"/>
                  </a:ext>
                </a:extLst>
              </p:cNvPr>
              <p:cNvSpPr txBox="1"/>
              <p:nvPr/>
            </p:nvSpPr>
            <p:spPr>
              <a:xfrm>
                <a:off x="277092" y="628650"/>
                <a:ext cx="5190258" cy="1960537"/>
              </a:xfrm>
              <a:prstGeom prst="rect">
                <a:avLst/>
              </a:prstGeom>
              <a:noFill/>
            </p:spPr>
            <p:txBody>
              <a:bodyPr wrap="square" rtlCol="0">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𝑃𝑟𝑒𝑐𝑖𝑠𝑖𝑜𝑛</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900" i="1">
                              <a:effectLst/>
                              <a:latin typeface="Cambria Math" panose="02040503050406030204" pitchFamily="18" charset="0"/>
                            </a:rPr>
                          </m:ctrlPr>
                        </m:fPr>
                        <m:num>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ố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ừ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ự đ</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𝑜</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á</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 đú</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𝑛𝑔</m:t>
                          </m:r>
                        </m:num>
                        <m:den>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ổ</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𝑛𝑔</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𝑠</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ố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ừ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𝑡𝑟𝑜𝑛𝑔</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â</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𝑢</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𝑑</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ự đ</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𝑜</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á</m:t>
                          </m:r>
                          <m:r>
                            <a:rPr lang="en-US" sz="900" i="1" kern="0">
                              <a:effectLst/>
                              <a:latin typeface="Cambria Math" panose="02040503050406030204" pitchFamily="18" charset="0"/>
                              <a:ea typeface="Times New Roman" panose="02020603050405020304" pitchFamily="18" charset="0"/>
                              <a:cs typeface="Times New Roman" panose="02020603050405020304" pitchFamily="18" charset="0"/>
                            </a:rPr>
                            <m:t>𝑛</m:t>
                          </m:r>
                        </m:den>
                      </m:f>
                    </m:oMath>
                  </m:oMathPara>
                </a14:m>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US" sz="900" dirty="0">
                    <a:latin typeface="Tahoma" panose="020B0604030504040204" pitchFamily="34" charset="0"/>
                    <a:ea typeface="Tahoma" panose="020B0604030504040204" pitchFamily="34" charset="0"/>
                    <a:cs typeface="Tahoma" panose="020B0604030504040204" pitchFamily="34" charset="0"/>
                  </a:rPr>
                  <a:t>P</a:t>
                </a:r>
                <a:r>
                  <a:rPr lang="vi-VN" sz="900" dirty="0">
                    <a:latin typeface="Tahoma" panose="020B0604030504040204" pitchFamily="34" charset="0"/>
                    <a:ea typeface="Tahoma" panose="020B0604030504040204" pitchFamily="34" charset="0"/>
                    <a:cs typeface="Tahoma" panose="020B0604030504040204" pitchFamily="34" charset="0"/>
                  </a:rPr>
                  <a:t>recision thông thường có thể dẫn đến sai lệch, đặc biệt khi mô hình lặp từ nhiều lần.</a:t>
                </a:r>
              </a:p>
              <a:p>
                <a:pPr marL="285750" indent="-171450" algn="just">
                  <a:lnSpc>
                    <a:spcPct val="150000"/>
                  </a:lnSpc>
                  <a:buFont typeface="Arial" panose="020B0604020202020204" pitchFamily="34" charset="0"/>
                  <a:buChar char="•"/>
                </a:pPr>
                <a:r>
                  <a:rPr lang="vi-VN" sz="900" dirty="0">
                    <a:latin typeface="Tahoma" panose="020B0604030504040204" pitchFamily="34" charset="0"/>
                    <a:ea typeface="Tahoma" panose="020B0604030504040204" pitchFamily="34" charset="0"/>
                    <a:cs typeface="Tahoma" panose="020B0604030504040204" pitchFamily="34" charset="0"/>
                  </a:rPr>
                  <a:t>Target Sentence: He eats an apple.</a:t>
                </a:r>
              </a:p>
              <a:p>
                <a:pPr marL="285750" indent="-171450" algn="just">
                  <a:lnSpc>
                    <a:spcPct val="150000"/>
                  </a:lnSpc>
                  <a:buFont typeface="Arial" panose="020B0604020202020204" pitchFamily="34" charset="0"/>
                  <a:buChar char="•"/>
                </a:pPr>
                <a:r>
                  <a:rPr lang="vi-VN" sz="900" dirty="0">
                    <a:latin typeface="Tahoma" panose="020B0604030504040204" pitchFamily="34" charset="0"/>
                    <a:ea typeface="Tahoma" panose="020B0604030504040204" pitchFamily="34" charset="0"/>
                    <a:cs typeface="Tahoma" panose="020B0604030504040204" pitchFamily="34" charset="0"/>
                  </a:rPr>
                  <a:t>Predicted Sentence: He He He.</a:t>
                </a:r>
              </a:p>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Khi đó Precision= 1. Trong trường hợp này, precision có thể bị đánh giá sai là rất cao, mặc dù câu dự đoán không đúng nghĩa</a:t>
                </a:r>
              </a:p>
              <a:p>
                <a:pPr algn="just">
                  <a:lnSpc>
                    <a:spcPct val="150000"/>
                  </a:lnSpc>
                </a:pPr>
                <a:r>
                  <a:rPr lang="en-US" sz="900" dirty="0">
                    <a:latin typeface="Tahoma" panose="020B0604030504040204" pitchFamily="34" charset="0"/>
                    <a:ea typeface="Tahoma" panose="020B0604030504040204" pitchFamily="34" charset="0"/>
                    <a:cs typeface="Tahoma" panose="020B0604030504040204" pitchFamily="34" charset="0"/>
                  </a:rPr>
                  <a:t>→ </a:t>
                </a:r>
                <a:r>
                  <a:rPr lang="vi-VN" sz="900" dirty="0">
                    <a:latin typeface="Tahoma" panose="020B0604030504040204" pitchFamily="34" charset="0"/>
                    <a:ea typeface="Tahoma" panose="020B0604030504040204" pitchFamily="34" charset="0"/>
                    <a:cs typeface="Tahoma" panose="020B0604030504040204" pitchFamily="34" charset="0"/>
                  </a:rPr>
                  <a:t>Để khắc phục phương pháp Clipped Precision được áp dụng để giới hạn số lần ghi nhận một từ đúng không vượt quá số lần xuất hiện tối đa của nó trong câu mục tiêu.</a:t>
                </a:r>
                <a:endParaRPr lang="en-US" sz="900" dirty="0">
                  <a:latin typeface="Tahoma" panose="020B0604030504040204" pitchFamily="34" charset="0"/>
                  <a:ea typeface="Tahoma" panose="020B0604030504040204" pitchFamily="34" charset="0"/>
                  <a:cs typeface="Tahoma" panose="020B0604030504040204" pitchFamily="34" charset="0"/>
                </a:endParaRPr>
              </a:p>
            </p:txBody>
          </p:sp>
        </mc:Choice>
        <mc:Fallback>
          <p:sp>
            <p:nvSpPr>
              <p:cNvPr id="9" name="TextBox 8">
                <a:extLst>
                  <a:ext uri="{FF2B5EF4-FFF2-40B4-BE49-F238E27FC236}">
                    <a16:creationId xmlns:a16="http://schemas.microsoft.com/office/drawing/2014/main" id="{FEDE068E-7D85-543C-6E67-5D8F90FF8B42}"/>
                  </a:ext>
                </a:extLst>
              </p:cNvPr>
              <p:cNvSpPr txBox="1">
                <a:spLocks noRot="1" noChangeAspect="1" noMove="1" noResize="1" noEditPoints="1" noAdjustHandles="1" noChangeArrowheads="1" noChangeShapeType="1" noTextEdit="1"/>
              </p:cNvSpPr>
              <p:nvPr/>
            </p:nvSpPr>
            <p:spPr>
              <a:xfrm>
                <a:off x="277092" y="628650"/>
                <a:ext cx="5190258" cy="1960537"/>
              </a:xfrm>
              <a:prstGeom prst="rect">
                <a:avLst/>
              </a:prstGeom>
              <a:blipFill>
                <a:blip r:embed="rId2"/>
                <a:stretch>
                  <a:fillRect b="-621"/>
                </a:stretch>
              </a:blipFill>
            </p:spPr>
            <p:txBody>
              <a:bodyPr/>
              <a:lstStyle/>
              <a:p>
                <a:r>
                  <a:rPr lang="en-US">
                    <a:noFill/>
                  </a:rPr>
                  <a:t> </a:t>
                </a:r>
              </a:p>
            </p:txBody>
          </p:sp>
        </mc:Fallback>
      </mc:AlternateContent>
    </p:spTree>
    <p:extLst>
      <p:ext uri="{BB962C8B-B14F-4D97-AF65-F5344CB8AC3E}">
        <p14:creationId xmlns:p14="http://schemas.microsoft.com/office/powerpoint/2010/main" val="2776777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74763-414A-76EF-371B-24480B32034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43D2763-414D-7B54-E74B-061B48312CCD}"/>
              </a:ext>
            </a:extLst>
          </p:cNvPr>
          <p:cNvSpPr txBox="1"/>
          <p:nvPr/>
        </p:nvSpPr>
        <p:spPr>
          <a:xfrm>
            <a:off x="277092" y="277825"/>
            <a:ext cx="2675658" cy="241476"/>
          </a:xfrm>
          <a:prstGeom prst="rect">
            <a:avLst/>
          </a:prstGeom>
        </p:spPr>
        <p:txBody>
          <a:bodyPr wrap="square" lIns="0" tIns="0" rIns="0" bIns="0" rtlCol="0" anchor="t">
            <a:spAutoFit/>
          </a:bodyPr>
          <a:lstStyle/>
          <a:p>
            <a:pPr algn="l">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3.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Chỉ</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số</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đánh</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giá</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B4907BA3-E140-F641-1420-17893DF76725}"/>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12</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34339FB5-E7F3-65B8-F894-DCCC16A5964D}"/>
              </a:ext>
            </a:extLst>
          </p:cNvPr>
          <p:cNvSpPr txBox="1"/>
          <p:nvPr/>
        </p:nvSpPr>
        <p:spPr>
          <a:xfrm>
            <a:off x="277092" y="628650"/>
            <a:ext cx="5190258" cy="1310615"/>
          </a:xfrm>
          <a:prstGeom prst="rect">
            <a:avLst/>
          </a:prstGeom>
          <a:noFill/>
        </p:spPr>
        <p:txBody>
          <a:bodyPr wrap="square" rtlCol="0">
            <a:spAutoFit/>
          </a:bodyPr>
          <a:lstStyle/>
          <a:p>
            <a:pPr marL="285750" indent="-171450" algn="just">
              <a:lnSpc>
                <a:spcPct val="150000"/>
              </a:lnSpc>
              <a:buFont typeface="Arial" panose="020B0604020202020204" pitchFamily="34" charset="0"/>
              <a:buChar char="•"/>
            </a:pPr>
            <a:r>
              <a:rPr lang="en-US" sz="900" dirty="0">
                <a:latin typeface="Tahoma" panose="020B0604030504040204" pitchFamily="34" charset="0"/>
                <a:ea typeface="Tahoma" panose="020B0604030504040204" pitchFamily="34" charset="0"/>
                <a:cs typeface="Tahoma" panose="020B0604030504040204" pitchFamily="34" charset="0"/>
              </a:rPr>
              <a:t>Target Sentence 1: He eats a sweet apple.</a:t>
            </a:r>
          </a:p>
          <a:p>
            <a:pPr marL="285750" indent="-171450" algn="just">
              <a:lnSpc>
                <a:spcPct val="150000"/>
              </a:lnSpc>
              <a:buFont typeface="Arial" panose="020B0604020202020204" pitchFamily="34" charset="0"/>
              <a:buChar char="•"/>
            </a:pPr>
            <a:r>
              <a:rPr lang="en-US" sz="900" dirty="0">
                <a:latin typeface="Tahoma" panose="020B0604030504040204" pitchFamily="34" charset="0"/>
                <a:ea typeface="Tahoma" panose="020B0604030504040204" pitchFamily="34" charset="0"/>
                <a:cs typeface="Tahoma" panose="020B0604030504040204" pitchFamily="34" charset="0"/>
              </a:rPr>
              <a:t>Target Sentence 2: He is eating a tasty apple.</a:t>
            </a:r>
          </a:p>
          <a:p>
            <a:pPr marL="285750" indent="-171450" algn="just">
              <a:lnSpc>
                <a:spcPct val="150000"/>
              </a:lnSpc>
              <a:buFont typeface="Arial" panose="020B0604020202020204" pitchFamily="34" charset="0"/>
              <a:buChar char="•"/>
            </a:pPr>
            <a:r>
              <a:rPr lang="en-US" sz="900" dirty="0">
                <a:latin typeface="Tahoma" panose="020B0604030504040204" pitchFamily="34" charset="0"/>
                <a:ea typeface="Tahoma" panose="020B0604030504040204" pitchFamily="34" charset="0"/>
                <a:cs typeface="Tahoma" panose="020B0604030504040204" pitchFamily="34" charset="0"/>
              </a:rPr>
              <a:t>Predicted Sentence: He </a:t>
            </a:r>
            <a:r>
              <a:rPr lang="en-US" sz="900" dirty="0" err="1">
                <a:latin typeface="Tahoma" panose="020B0604030504040204" pitchFamily="34" charset="0"/>
                <a:ea typeface="Tahoma" panose="020B0604030504040204" pitchFamily="34" charset="0"/>
                <a:cs typeface="Tahoma" panose="020B0604030504040204" pitchFamily="34" charset="0"/>
              </a:rPr>
              <a:t>He</a:t>
            </a:r>
            <a:r>
              <a:rPr lang="en-US" sz="900" dirty="0">
                <a:latin typeface="Tahoma" panose="020B0604030504040204" pitchFamily="34" charset="0"/>
                <a:ea typeface="Tahoma" panose="020B0604030504040204" pitchFamily="34" charset="0"/>
                <a:cs typeface="Tahoma" panose="020B0604030504040204" pitchFamily="34" charset="0"/>
              </a:rPr>
              <a:t> </a:t>
            </a:r>
            <a:r>
              <a:rPr lang="en-US" sz="900" dirty="0" err="1">
                <a:latin typeface="Tahoma" panose="020B0604030504040204" pitchFamily="34" charset="0"/>
                <a:ea typeface="Tahoma" panose="020B0604030504040204" pitchFamily="34" charset="0"/>
                <a:cs typeface="Tahoma" panose="020B0604030504040204" pitchFamily="34" charset="0"/>
              </a:rPr>
              <a:t>He</a:t>
            </a:r>
            <a:r>
              <a:rPr lang="en-US" sz="900" dirty="0">
                <a:latin typeface="Tahoma" panose="020B0604030504040204" pitchFamily="34" charset="0"/>
                <a:ea typeface="Tahoma" panose="020B0604030504040204" pitchFamily="34" charset="0"/>
                <a:cs typeface="Tahoma" panose="020B0604030504040204" pitchFamily="34" charset="0"/>
              </a:rPr>
              <a:t> eats tasty fruit.</a:t>
            </a:r>
          </a:p>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Từ "He" chỉ xuất hiện 1 lần trong Target Sentence. Vì thế, dù từ "He" xuất hiện 3 lần ở trong Predicted Sentence, chúng ta clip về 1, như là số lần xuất hiện tối đa trong Target Sentence. </a:t>
            </a:r>
            <a:endParaRPr lang="en-US" sz="9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vi-VN" sz="900" dirty="0">
                <a:latin typeface="Tahoma" panose="020B0604030504040204" pitchFamily="34" charset="0"/>
                <a:ea typeface="Tahoma" panose="020B0604030504040204" pitchFamily="34" charset="0"/>
                <a:cs typeface="Tahoma" panose="020B0604030504040204" pitchFamily="34" charset="0"/>
              </a:rPr>
              <a:t>→ Clipped Precision</a:t>
            </a:r>
            <a:r>
              <a:rPr lang="en-US" sz="900" dirty="0">
                <a:latin typeface="Tahoma" panose="020B0604030504040204" pitchFamily="34" charset="0"/>
                <a:ea typeface="Tahoma" panose="020B0604030504040204" pitchFamily="34" charset="0"/>
                <a:cs typeface="Tahoma" panose="020B0604030504040204" pitchFamily="34" charset="0"/>
              </a:rPr>
              <a:t> </a:t>
            </a:r>
            <a:r>
              <a:rPr lang="vi-VN" sz="900" dirty="0">
                <a:latin typeface="Tahoma" panose="020B0604030504040204" pitchFamily="34" charset="0"/>
                <a:ea typeface="Tahoma" panose="020B0604030504040204" pitchFamily="34" charset="0"/>
                <a:cs typeface="Tahoma" panose="020B0604030504040204" pitchFamily="34" charset="0"/>
              </a:rPr>
              <a:t>=  3/6</a:t>
            </a:r>
            <a:endParaRPr lang="en-US" sz="90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4932E060-25FE-96A5-01EC-25D7056AC1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40571" y="2000250"/>
            <a:ext cx="3071958" cy="1005709"/>
          </a:xfrm>
          <a:prstGeom prst="rect">
            <a:avLst/>
          </a:prstGeom>
          <a:noFill/>
          <a:ln>
            <a:noFill/>
          </a:ln>
        </p:spPr>
      </p:pic>
    </p:spTree>
    <p:extLst>
      <p:ext uri="{BB962C8B-B14F-4D97-AF65-F5344CB8AC3E}">
        <p14:creationId xmlns:p14="http://schemas.microsoft.com/office/powerpoint/2010/main" val="178047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30CB1-6AF4-1FCC-7A9F-D15A8FCFB02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FCC8FF4-6C5C-4252-C80A-62190182A7EC}"/>
              </a:ext>
            </a:extLst>
          </p:cNvPr>
          <p:cNvSpPr txBox="1"/>
          <p:nvPr/>
        </p:nvSpPr>
        <p:spPr>
          <a:xfrm>
            <a:off x="277092" y="277825"/>
            <a:ext cx="2675658" cy="241476"/>
          </a:xfrm>
          <a:prstGeom prst="rect">
            <a:avLst/>
          </a:prstGeom>
        </p:spPr>
        <p:txBody>
          <a:bodyPr wrap="square" lIns="0" tIns="0" rIns="0" bIns="0" rtlCol="0" anchor="t">
            <a:spAutoFit/>
          </a:bodyPr>
          <a:lstStyle/>
          <a:p>
            <a:pPr algn="l">
              <a:lnSpc>
                <a:spcPts val="2100"/>
              </a:lnSpc>
            </a:pP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3.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Chỉ</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số</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đánh</a:t>
            </a:r>
            <a:r>
              <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1500" b="1" spc="-4" dirty="0" err="1">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rPr>
              <a:t>giá</a:t>
            </a:r>
            <a:endParaRPr lang="en-US" sz="1500" b="1" spc="-4" dirty="0">
              <a:solidFill>
                <a:srgbClr val="2B4D7B"/>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10" name="TextBox 9">
            <a:extLst>
              <a:ext uri="{FF2B5EF4-FFF2-40B4-BE49-F238E27FC236}">
                <a16:creationId xmlns:a16="http://schemas.microsoft.com/office/drawing/2014/main" id="{7155CACB-6A56-2E47-354F-00BC1A6B3A81}"/>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13</a:t>
            </a:r>
            <a:endParaRPr lang="en-US" sz="800"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C6653E8-516C-BE79-3B30-B766D20435A6}"/>
                  </a:ext>
                </a:extLst>
              </p:cNvPr>
              <p:cNvSpPr txBox="1"/>
              <p:nvPr/>
            </p:nvSpPr>
            <p:spPr>
              <a:xfrm>
                <a:off x="277092" y="628650"/>
                <a:ext cx="2675658" cy="2203039"/>
              </a:xfrm>
              <a:prstGeom prst="rect">
                <a:avLst/>
              </a:prstGeom>
              <a:noFill/>
            </p:spPr>
            <p:txBody>
              <a:bodyPr wrap="square" rtlCol="0">
                <a:spAutoFit/>
              </a:bodyPr>
              <a:lstStyle/>
              <a:p>
                <a:pPr algn="just">
                  <a:lnSpc>
                    <a:spcPct val="130000"/>
                  </a:lnSpc>
                </a:pPr>
                <a:r>
                  <a:rPr lang="en-US" sz="900" dirty="0">
                    <a:latin typeface="Tahoma" panose="020B0604030504040204" pitchFamily="34" charset="0"/>
                    <a:ea typeface="Tahoma" panose="020B0604030504040204" pitchFamily="34" charset="0"/>
                    <a:cs typeface="Tahoma" panose="020B0604030504040204" pitchFamily="34" charset="0"/>
                  </a:rPr>
                  <a:t>C</a:t>
                </a:r>
                <a:r>
                  <a:rPr lang="vi-VN" sz="900" dirty="0">
                    <a:latin typeface="Tahoma" panose="020B0604030504040204" pitchFamily="34" charset="0"/>
                    <a:ea typeface="Tahoma" panose="020B0604030504040204" pitchFamily="34" charset="0"/>
                    <a:cs typeface="Tahoma" panose="020B0604030504040204" pitchFamily="34" charset="0"/>
                  </a:rPr>
                  <a:t>hỉ số </a:t>
                </a:r>
                <a:r>
                  <a:rPr lang="vi-VN" sz="900" b="1" dirty="0">
                    <a:latin typeface="Tahoma" panose="020B0604030504040204" pitchFamily="34" charset="0"/>
                    <a:ea typeface="Tahoma" panose="020B0604030504040204" pitchFamily="34" charset="0"/>
                    <a:cs typeface="Tahoma" panose="020B0604030504040204" pitchFamily="34" charset="0"/>
                  </a:rPr>
                  <a:t>BLEU</a:t>
                </a:r>
                <a:r>
                  <a:rPr lang="en-US" sz="900" dirty="0">
                    <a:latin typeface="Tahoma" panose="020B0604030504040204" pitchFamily="34" charset="0"/>
                    <a:ea typeface="Tahoma" panose="020B0604030504040204" pitchFamily="34" charset="0"/>
                    <a:cs typeface="Tahoma" panose="020B0604030504040204" pitchFamily="34" charset="0"/>
                  </a:rPr>
                  <a:t> </a:t>
                </a:r>
                <a:r>
                  <a:rPr lang="vi-VN" sz="900" dirty="0">
                    <a:latin typeface="Tahoma" panose="020B0604030504040204" pitchFamily="34" charset="0"/>
                    <a:ea typeface="Tahoma" panose="020B0604030504040204" pitchFamily="34" charset="0"/>
                    <a:cs typeface="Tahoma" panose="020B0604030504040204" pitchFamily="34" charset="0"/>
                  </a:rPr>
                  <a:t>không chỉ so sánh từ đơn lẻ mà sử dụng modified n-gram precision, mở rộng cho nhiều mức n-gram để đánh giá đồng thời độ chính xác từ vựng và cấu trúc câu.</a:t>
                </a:r>
              </a:p>
              <a:p>
                <a:pPr algn="just">
                  <a:lnSpc>
                    <a:spcPct val="130000"/>
                  </a:lnSpc>
                </a:pPr>
                <a:r>
                  <a:rPr lang="vi-VN" sz="900" dirty="0">
                    <a:latin typeface="Tahoma" panose="020B0604030504040204" pitchFamily="34" charset="0"/>
                    <a:ea typeface="Tahoma" panose="020B0604030504040204" pitchFamily="34" charset="0"/>
                    <a:cs typeface="Tahoma" panose="020B0604030504040204" pitchFamily="34" charset="0"/>
                  </a:rPr>
                  <a:t>Ngoài ra, BLEU còn sử dụng thêm brevity penalty (BP) để phạt các câu dịch quá ngắn:</a:t>
                </a:r>
                <a:endParaRPr lang="en-US" sz="900" dirty="0">
                  <a:latin typeface="Tahoma" panose="020B0604030504040204" pitchFamily="34" charset="0"/>
                  <a:ea typeface="Tahoma" panose="020B0604030504040204" pitchFamily="34" charset="0"/>
                  <a:cs typeface="Tahoma" panose="020B0604030504040204" pitchFamily="34" charset="0"/>
                </a:endParaRPr>
              </a:p>
              <a:p>
                <a:pPr marL="114300" algn="just">
                  <a:lnSpc>
                    <a:spcPct val="130000"/>
                  </a:lnSpc>
                </a:pPr>
                <a14:m>
                  <m:oMathPara xmlns:m="http://schemas.openxmlformats.org/officeDocument/2006/math">
                    <m:oMathParaPr>
                      <m:jc m:val="centerGroup"/>
                    </m:oMathParaPr>
                    <m:oMath xmlns:m="http://schemas.openxmlformats.org/officeDocument/2006/math">
                      <m:r>
                        <a:rPr lang="en-US" sz="900" b="0" i="1" smtClean="0">
                          <a:latin typeface="Cambria Math" panose="02040503050406030204" pitchFamily="18" charset="0"/>
                        </a:rPr>
                        <m:t>𝐵</m:t>
                      </m:r>
                      <m:r>
                        <a:rPr lang="en-US" sz="900" i="1"/>
                        <m:t>𝐿𝐸𝑈</m:t>
                      </m:r>
                      <m:r>
                        <a:rPr lang="en-US" sz="900" i="1"/>
                        <m:t>=</m:t>
                      </m:r>
                      <m:r>
                        <a:rPr lang="en-US" sz="900" i="1"/>
                        <m:t>𝐵𝑃</m:t>
                      </m:r>
                      <m:r>
                        <a:rPr lang="en-US" sz="900" i="1"/>
                        <m:t>∙</m:t>
                      </m:r>
                      <m:r>
                        <m:rPr>
                          <m:sty m:val="p"/>
                        </m:rPr>
                        <a:rPr lang="en-US" sz="900"/>
                        <m:t>exp</m:t>
                      </m:r>
                      <m:r>
                        <a:rPr lang="en-US" sz="900" i="1"/>
                        <m:t>(</m:t>
                      </m:r>
                      <m:nary>
                        <m:naryPr>
                          <m:chr m:val="∑"/>
                          <m:limLoc m:val="undOvr"/>
                          <m:ctrlPr>
                            <a:rPr lang="en-US" sz="900" i="1"/>
                          </m:ctrlPr>
                        </m:naryPr>
                        <m:sub>
                          <m:r>
                            <a:rPr lang="en-US" sz="900" i="1"/>
                            <m:t>𝑛</m:t>
                          </m:r>
                          <m:r>
                            <a:rPr lang="en-US" sz="900" i="1"/>
                            <m:t>=1</m:t>
                          </m:r>
                        </m:sub>
                        <m:sup>
                          <m:r>
                            <a:rPr lang="en-US" sz="900" i="1"/>
                            <m:t>𝑁</m:t>
                          </m:r>
                        </m:sup>
                        <m:e>
                          <m:sSub>
                            <m:sSubPr>
                              <m:ctrlPr>
                                <a:rPr lang="en-US" sz="900" i="1"/>
                              </m:ctrlPr>
                            </m:sSubPr>
                            <m:e>
                              <m:r>
                                <a:rPr lang="en-US" sz="900" i="1"/>
                                <m:t>𝑤</m:t>
                              </m:r>
                            </m:e>
                            <m:sub>
                              <m:r>
                                <a:rPr lang="en-US" sz="900" i="1"/>
                                <m:t>𝑛</m:t>
                              </m:r>
                            </m:sub>
                          </m:sSub>
                          <m:func>
                            <m:funcPr>
                              <m:ctrlPr>
                                <a:rPr lang="en-US" sz="900" i="1"/>
                              </m:ctrlPr>
                            </m:funcPr>
                            <m:fName>
                              <m:r>
                                <m:rPr>
                                  <m:sty m:val="p"/>
                                </m:rPr>
                                <a:rPr lang="en-US" sz="900"/>
                                <m:t>log</m:t>
                              </m:r>
                            </m:fName>
                            <m:e>
                              <m:sSub>
                                <m:sSubPr>
                                  <m:ctrlPr>
                                    <a:rPr lang="en-US" sz="900" i="1"/>
                                  </m:ctrlPr>
                                </m:sSubPr>
                                <m:e>
                                  <m:r>
                                    <a:rPr lang="en-US" sz="900" i="1"/>
                                    <m:t>𝑝</m:t>
                                  </m:r>
                                </m:e>
                                <m:sub>
                                  <m:r>
                                    <a:rPr lang="en-US" sz="900" i="1"/>
                                    <m:t>𝑛</m:t>
                                  </m:r>
                                </m:sub>
                              </m:sSub>
                            </m:e>
                          </m:func>
                        </m:e>
                      </m:nary>
                      <m:r>
                        <a:rPr lang="en-US" sz="900" i="1"/>
                        <m:t>)</m:t>
                      </m:r>
                    </m:oMath>
                  </m:oMathPara>
                </a14:m>
                <a:endParaRPr lang="en-US" sz="200" dirty="0">
                  <a:latin typeface="Tahoma" panose="020B0604030504040204" pitchFamily="34" charset="0"/>
                  <a:ea typeface="Tahoma" panose="020B0604030504040204" pitchFamily="34" charset="0"/>
                  <a:cs typeface="Tahoma" panose="020B0604030504040204" pitchFamily="34" charset="0"/>
                </a:endParaRPr>
              </a:p>
              <a:p>
                <a:pPr marL="285750" indent="-171450" algn="just">
                  <a:lnSpc>
                    <a:spcPct val="130000"/>
                  </a:lnSpc>
                  <a:buFont typeface="Arial" panose="020B0604020202020204" pitchFamily="34" charset="0"/>
                  <a:buChar char="•"/>
                </a:pPr>
                <a14:m>
                  <m:oMath xmlns:m="http://schemas.openxmlformats.org/officeDocument/2006/math">
                    <m:sSub>
                      <m:sSubPr>
                        <m:ctrlPr>
                          <a:rPr lang="en-US" sz="900" i="1">
                            <a:latin typeface="Cambria Math" panose="02040503050406030204" pitchFamily="18" charset="0"/>
                          </a:rPr>
                        </m:ctrlPr>
                      </m:sSubPr>
                      <m:e>
                        <m:r>
                          <a:rPr lang="en-US" sz="900" i="1">
                            <a:latin typeface="Cambria Math" panose="02040503050406030204" pitchFamily="18" charset="0"/>
                          </a:rPr>
                          <m:t>𝑝</m:t>
                        </m:r>
                      </m:e>
                      <m:sub>
                        <m:r>
                          <a:rPr lang="en-US" sz="900" i="1">
                            <a:latin typeface="Cambria Math" panose="02040503050406030204" pitchFamily="18" charset="0"/>
                          </a:rPr>
                          <m:t>𝑛</m:t>
                        </m:r>
                      </m:sub>
                    </m:sSub>
                  </m:oMath>
                </a14:m>
                <a:r>
                  <a:rPr lang="vi-VN" sz="900" dirty="0">
                    <a:latin typeface="Tahoma" panose="020B0604030504040204" pitchFamily="34" charset="0"/>
                    <a:ea typeface="Tahoma" panose="020B0604030504040204" pitchFamily="34" charset="0"/>
                    <a:cs typeface="Tahoma" panose="020B0604030504040204" pitchFamily="34" charset="0"/>
                  </a:rPr>
                  <a:t>: độ chính xác n-gram bậc n </a:t>
                </a:r>
              </a:p>
              <a:p>
                <a:pPr marL="285750" indent="-171450" algn="just">
                  <a:lnSpc>
                    <a:spcPct val="130000"/>
                  </a:lnSpc>
                  <a:buFont typeface="Arial" panose="020B0604020202020204" pitchFamily="34" charset="0"/>
                  <a:buChar char="•"/>
                </a:pPr>
                <a14:m>
                  <m:oMath xmlns:m="http://schemas.openxmlformats.org/officeDocument/2006/math">
                    <m:sSub>
                      <m:sSubPr>
                        <m:ctrlPr>
                          <a:rPr lang="en-US" sz="900" i="1">
                            <a:latin typeface="Cambria Math" panose="02040503050406030204" pitchFamily="18" charset="0"/>
                          </a:rPr>
                        </m:ctrlPr>
                      </m:sSubPr>
                      <m:e>
                        <m:r>
                          <a:rPr lang="en-US" sz="900" i="1">
                            <a:latin typeface="Cambria Math" panose="02040503050406030204" pitchFamily="18" charset="0"/>
                          </a:rPr>
                          <m:t>𝑤</m:t>
                        </m:r>
                      </m:e>
                      <m:sub>
                        <m:r>
                          <a:rPr lang="en-US" sz="900" i="1">
                            <a:latin typeface="Cambria Math" panose="02040503050406030204" pitchFamily="18" charset="0"/>
                          </a:rPr>
                          <m:t>𝑛</m:t>
                        </m:r>
                      </m:sub>
                    </m:sSub>
                  </m:oMath>
                </a14:m>
                <a:r>
                  <a:rPr lang="vi-VN" sz="900" dirty="0">
                    <a:latin typeface="Tahoma" panose="020B0604030504040204" pitchFamily="34" charset="0"/>
                    <a:ea typeface="Tahoma" panose="020B0604030504040204" pitchFamily="34" charset="0"/>
                    <a:cs typeface="Tahoma" panose="020B0604030504040204" pitchFamily="34" charset="0"/>
                  </a:rPr>
                  <a:t>: trọng số với bận n-gram tương ứng </a:t>
                </a:r>
              </a:p>
              <a:p>
                <a:pPr marL="285750" indent="-171450" algn="just">
                  <a:lnSpc>
                    <a:spcPct val="130000"/>
                  </a:lnSpc>
                  <a:buFont typeface="Arial" panose="020B0604020202020204" pitchFamily="34" charset="0"/>
                  <a:buChar char="•"/>
                </a:pPr>
                <a14:m>
                  <m:oMath xmlns:m="http://schemas.openxmlformats.org/officeDocument/2006/math">
                    <m:r>
                      <a:rPr lang="vi-VN" sz="900" i="1" dirty="0" smtClean="0">
                        <a:latin typeface="Cambria Math" panose="02040503050406030204" pitchFamily="18" charset="0"/>
                        <a:ea typeface="Tahoma" panose="020B0604030504040204" pitchFamily="34" charset="0"/>
                        <a:cs typeface="Tahoma" panose="020B0604030504040204" pitchFamily="34" charset="0"/>
                      </a:rPr>
                      <m:t>𝐵𝑃</m:t>
                    </m:r>
                  </m:oMath>
                </a14:m>
                <a:r>
                  <a:rPr lang="vi-VN" sz="900" dirty="0">
                    <a:latin typeface="Tahoma" panose="020B0604030504040204" pitchFamily="34" charset="0"/>
                    <a:ea typeface="Tahoma" panose="020B0604030504040204" pitchFamily="34" charset="0"/>
                    <a:cs typeface="Tahoma" panose="020B0604030504040204" pitchFamily="34" charset="0"/>
                  </a:rPr>
                  <a:t> (Brevity penalty): hệ số phạt độ dài câu</a:t>
                </a:r>
              </a:p>
            </p:txBody>
          </p:sp>
        </mc:Choice>
        <mc:Fallback>
          <p:sp>
            <p:nvSpPr>
              <p:cNvPr id="9" name="TextBox 8">
                <a:extLst>
                  <a:ext uri="{FF2B5EF4-FFF2-40B4-BE49-F238E27FC236}">
                    <a16:creationId xmlns:a16="http://schemas.microsoft.com/office/drawing/2014/main" id="{6C6653E8-516C-BE79-3B30-B766D20435A6}"/>
                  </a:ext>
                </a:extLst>
              </p:cNvPr>
              <p:cNvSpPr txBox="1">
                <a:spLocks noRot="1" noChangeAspect="1" noMove="1" noResize="1" noEditPoints="1" noAdjustHandles="1" noChangeArrowheads="1" noChangeShapeType="1" noTextEdit="1"/>
              </p:cNvSpPr>
              <p:nvPr/>
            </p:nvSpPr>
            <p:spPr>
              <a:xfrm>
                <a:off x="277092" y="628650"/>
                <a:ext cx="2675658" cy="2203039"/>
              </a:xfrm>
              <a:prstGeom prst="rect">
                <a:avLst/>
              </a:prstGeom>
              <a:blipFill>
                <a:blip r:embed="rId2"/>
                <a:stretch>
                  <a:fillRect b="-27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76628A8-3744-92A3-4272-1B55D179C2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1325" y="1162050"/>
            <a:ext cx="2675658" cy="1209258"/>
          </a:xfrm>
          <a:prstGeom prst="rect">
            <a:avLst/>
          </a:prstGeom>
          <a:noFill/>
          <a:ln>
            <a:noFill/>
          </a:ln>
        </p:spPr>
      </p:pic>
    </p:spTree>
    <p:extLst>
      <p:ext uri="{BB962C8B-B14F-4D97-AF65-F5344CB8AC3E}">
        <p14:creationId xmlns:p14="http://schemas.microsoft.com/office/powerpoint/2010/main" val="3417955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F8A0E-CADE-5155-5128-7F62F3A7800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946E42-B3C4-FC5F-ABDE-0FCBB60EB2F5}"/>
              </a:ext>
            </a:extLst>
          </p:cNvPr>
          <p:cNvGrpSpPr/>
          <p:nvPr/>
        </p:nvGrpSpPr>
        <p:grpSpPr>
          <a:xfrm>
            <a:off x="-6915" y="0"/>
            <a:ext cx="5760015" cy="3244567"/>
            <a:chOff x="0" y="0"/>
            <a:chExt cx="7680020" cy="4326090"/>
          </a:xfrm>
        </p:grpSpPr>
        <p:sp>
          <p:nvSpPr>
            <p:cNvPr id="3" name="Freeform 3">
              <a:extLst>
                <a:ext uri="{FF2B5EF4-FFF2-40B4-BE49-F238E27FC236}">
                  <a16:creationId xmlns:a16="http://schemas.microsoft.com/office/drawing/2014/main" id="{B6B247A9-0FDE-9F9F-F8DC-47E273313FB4}"/>
                </a:ext>
              </a:extLst>
            </p:cNvPr>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FDECAB01-2187-659F-DBE5-C8BE55E390DA}"/>
              </a:ext>
            </a:extLst>
          </p:cNvPr>
          <p:cNvGrpSpPr/>
          <p:nvPr/>
        </p:nvGrpSpPr>
        <p:grpSpPr>
          <a:xfrm>
            <a:off x="323849" y="1931844"/>
            <a:ext cx="5219700" cy="25403"/>
            <a:chOff x="0" y="0"/>
            <a:chExt cx="6959600" cy="33871"/>
          </a:xfrm>
        </p:grpSpPr>
        <p:sp>
          <p:nvSpPr>
            <p:cNvPr id="5" name="Freeform 5">
              <a:extLst>
                <a:ext uri="{FF2B5EF4-FFF2-40B4-BE49-F238E27FC236}">
                  <a16:creationId xmlns:a16="http://schemas.microsoft.com/office/drawing/2014/main" id="{55BDB52C-F9EE-3B74-3312-B85A801BEFAF}"/>
                </a:ext>
              </a:extLst>
            </p:cNvPr>
            <p:cNvSpPr/>
            <p:nvPr/>
          </p:nvSpPr>
          <p:spPr>
            <a:xfrm>
              <a:off x="0" y="0"/>
              <a:ext cx="6959600" cy="33909"/>
            </a:xfrm>
            <a:custGeom>
              <a:avLst/>
              <a:gdLst/>
              <a:ahLst/>
              <a:cxnLst/>
              <a:rect l="l" t="t" r="r" b="b"/>
              <a:pathLst>
                <a:path w="6959600" h="33909">
                  <a:moveTo>
                    <a:pt x="0" y="0"/>
                  </a:moveTo>
                  <a:lnTo>
                    <a:pt x="6959600" y="0"/>
                  </a:lnTo>
                  <a:lnTo>
                    <a:pt x="6959600" y="33909"/>
                  </a:lnTo>
                  <a:lnTo>
                    <a:pt x="0" y="33909"/>
                  </a:lnTo>
                  <a:lnTo>
                    <a:pt x="0" y="0"/>
                  </a:lnTo>
                  <a:close/>
                </a:path>
              </a:pathLst>
            </a:custGeom>
            <a:blipFill>
              <a:blip r:embed="rId3"/>
              <a:stretch>
                <a:fillRect b="112"/>
              </a:stretch>
            </a:blipFill>
          </p:spPr>
        </p:sp>
      </p:grpSp>
      <p:sp>
        <p:nvSpPr>
          <p:cNvPr id="6" name="TextBox 6">
            <a:extLst>
              <a:ext uri="{FF2B5EF4-FFF2-40B4-BE49-F238E27FC236}">
                <a16:creationId xmlns:a16="http://schemas.microsoft.com/office/drawing/2014/main" id="{1DBE1789-E12D-6BF0-CF5E-DD245F912B60}"/>
              </a:ext>
            </a:extLst>
          </p:cNvPr>
          <p:cNvSpPr txBox="1"/>
          <p:nvPr/>
        </p:nvSpPr>
        <p:spPr>
          <a:xfrm>
            <a:off x="323849" y="1429062"/>
            <a:ext cx="5260321" cy="321948"/>
          </a:xfrm>
          <a:prstGeom prst="rect">
            <a:avLst/>
          </a:prstGeom>
        </p:spPr>
        <p:txBody>
          <a:bodyPr lIns="0" tIns="0" rIns="0" bIns="0" rtlCol="0" anchor="t">
            <a:spAutoFit/>
          </a:bodyPr>
          <a:lstStyle/>
          <a:p>
            <a:pPr algn="l">
              <a:lnSpc>
                <a:spcPts val="2800"/>
              </a:lnSpc>
            </a:pP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4. Phương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pháp</a:t>
            </a:r>
            <a:endPar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7" name="TextBox 6">
            <a:extLst>
              <a:ext uri="{FF2B5EF4-FFF2-40B4-BE49-F238E27FC236}">
                <a16:creationId xmlns:a16="http://schemas.microsoft.com/office/drawing/2014/main" id="{B0AB959F-CFEC-1010-1998-56DEC359DB0C}"/>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10</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50944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ED96B-E081-50FE-7861-2DE3B7ECBBB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BC56B71-7B98-1B71-E75E-69E57686E9B0}"/>
              </a:ext>
            </a:extLst>
          </p:cNvPr>
          <p:cNvGrpSpPr/>
          <p:nvPr/>
        </p:nvGrpSpPr>
        <p:grpSpPr>
          <a:xfrm>
            <a:off x="-6915" y="0"/>
            <a:ext cx="5760015" cy="3244567"/>
            <a:chOff x="0" y="0"/>
            <a:chExt cx="7680020" cy="4326090"/>
          </a:xfrm>
        </p:grpSpPr>
        <p:sp>
          <p:nvSpPr>
            <p:cNvPr id="3" name="Freeform 3">
              <a:extLst>
                <a:ext uri="{FF2B5EF4-FFF2-40B4-BE49-F238E27FC236}">
                  <a16:creationId xmlns:a16="http://schemas.microsoft.com/office/drawing/2014/main" id="{29D2DFB5-4EE4-D62B-43AF-C48986F70E73}"/>
                </a:ext>
              </a:extLst>
            </p:cNvPr>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8B32BBA4-67B1-DB26-B251-B1969EADA154}"/>
              </a:ext>
            </a:extLst>
          </p:cNvPr>
          <p:cNvGrpSpPr/>
          <p:nvPr/>
        </p:nvGrpSpPr>
        <p:grpSpPr>
          <a:xfrm>
            <a:off x="323849" y="1931844"/>
            <a:ext cx="5219700" cy="25403"/>
            <a:chOff x="0" y="0"/>
            <a:chExt cx="6959600" cy="33871"/>
          </a:xfrm>
        </p:grpSpPr>
        <p:sp>
          <p:nvSpPr>
            <p:cNvPr id="5" name="Freeform 5">
              <a:extLst>
                <a:ext uri="{FF2B5EF4-FFF2-40B4-BE49-F238E27FC236}">
                  <a16:creationId xmlns:a16="http://schemas.microsoft.com/office/drawing/2014/main" id="{45858D52-CFEA-1ECD-B5AB-D576D47258F1}"/>
                </a:ext>
              </a:extLst>
            </p:cNvPr>
            <p:cNvSpPr/>
            <p:nvPr/>
          </p:nvSpPr>
          <p:spPr>
            <a:xfrm>
              <a:off x="0" y="0"/>
              <a:ext cx="6959600" cy="33909"/>
            </a:xfrm>
            <a:custGeom>
              <a:avLst/>
              <a:gdLst/>
              <a:ahLst/>
              <a:cxnLst/>
              <a:rect l="l" t="t" r="r" b="b"/>
              <a:pathLst>
                <a:path w="6959600" h="33909">
                  <a:moveTo>
                    <a:pt x="0" y="0"/>
                  </a:moveTo>
                  <a:lnTo>
                    <a:pt x="6959600" y="0"/>
                  </a:lnTo>
                  <a:lnTo>
                    <a:pt x="6959600" y="33909"/>
                  </a:lnTo>
                  <a:lnTo>
                    <a:pt x="0" y="33909"/>
                  </a:lnTo>
                  <a:lnTo>
                    <a:pt x="0" y="0"/>
                  </a:lnTo>
                  <a:close/>
                </a:path>
              </a:pathLst>
            </a:custGeom>
            <a:blipFill>
              <a:blip r:embed="rId3"/>
              <a:stretch>
                <a:fillRect b="112"/>
              </a:stretch>
            </a:blipFill>
          </p:spPr>
        </p:sp>
      </p:grpSp>
      <p:sp>
        <p:nvSpPr>
          <p:cNvPr id="6" name="TextBox 6">
            <a:extLst>
              <a:ext uri="{FF2B5EF4-FFF2-40B4-BE49-F238E27FC236}">
                <a16:creationId xmlns:a16="http://schemas.microsoft.com/office/drawing/2014/main" id="{F8144E25-7E3F-23CB-590C-63F34F90B06C}"/>
              </a:ext>
            </a:extLst>
          </p:cNvPr>
          <p:cNvSpPr txBox="1"/>
          <p:nvPr/>
        </p:nvSpPr>
        <p:spPr>
          <a:xfrm>
            <a:off x="323849" y="1429062"/>
            <a:ext cx="5260321" cy="321948"/>
          </a:xfrm>
          <a:prstGeom prst="rect">
            <a:avLst/>
          </a:prstGeom>
        </p:spPr>
        <p:txBody>
          <a:bodyPr lIns="0" tIns="0" rIns="0" bIns="0" rtlCol="0" anchor="t">
            <a:spAutoFit/>
          </a:bodyPr>
          <a:lstStyle/>
          <a:p>
            <a:pPr algn="l">
              <a:lnSpc>
                <a:spcPts val="2800"/>
              </a:lnSpc>
            </a:pP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5.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Kết</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quả</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thực</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nghiệm</a:t>
            </a:r>
            <a:endPar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7" name="TextBox 6">
            <a:extLst>
              <a:ext uri="{FF2B5EF4-FFF2-40B4-BE49-F238E27FC236}">
                <a16:creationId xmlns:a16="http://schemas.microsoft.com/office/drawing/2014/main" id="{6395900A-F007-850E-9EBB-35DE59BD8CA7}"/>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10</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39819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98032-962F-34A8-321D-E954BFA4A04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E648F10-4203-2BB3-91B2-0E160253B915}"/>
              </a:ext>
            </a:extLst>
          </p:cNvPr>
          <p:cNvGrpSpPr/>
          <p:nvPr/>
        </p:nvGrpSpPr>
        <p:grpSpPr>
          <a:xfrm>
            <a:off x="-6915" y="0"/>
            <a:ext cx="5760015" cy="3244567"/>
            <a:chOff x="0" y="0"/>
            <a:chExt cx="7680020" cy="4326090"/>
          </a:xfrm>
        </p:grpSpPr>
        <p:sp>
          <p:nvSpPr>
            <p:cNvPr id="3" name="Freeform 3">
              <a:extLst>
                <a:ext uri="{FF2B5EF4-FFF2-40B4-BE49-F238E27FC236}">
                  <a16:creationId xmlns:a16="http://schemas.microsoft.com/office/drawing/2014/main" id="{91D03971-E6EE-E3A7-9FCF-DA26CA92BD12}"/>
                </a:ext>
              </a:extLst>
            </p:cNvPr>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F1A5957D-2D81-2221-4987-36ACAEA7AA37}"/>
              </a:ext>
            </a:extLst>
          </p:cNvPr>
          <p:cNvGrpSpPr/>
          <p:nvPr/>
        </p:nvGrpSpPr>
        <p:grpSpPr>
          <a:xfrm>
            <a:off x="323849" y="1931844"/>
            <a:ext cx="5219700" cy="25403"/>
            <a:chOff x="0" y="0"/>
            <a:chExt cx="6959600" cy="33871"/>
          </a:xfrm>
        </p:grpSpPr>
        <p:sp>
          <p:nvSpPr>
            <p:cNvPr id="5" name="Freeform 5">
              <a:extLst>
                <a:ext uri="{FF2B5EF4-FFF2-40B4-BE49-F238E27FC236}">
                  <a16:creationId xmlns:a16="http://schemas.microsoft.com/office/drawing/2014/main" id="{4A59DDE6-1C48-2551-677B-0265D11EC29D}"/>
                </a:ext>
              </a:extLst>
            </p:cNvPr>
            <p:cNvSpPr/>
            <p:nvPr/>
          </p:nvSpPr>
          <p:spPr>
            <a:xfrm>
              <a:off x="0" y="0"/>
              <a:ext cx="6959600" cy="33909"/>
            </a:xfrm>
            <a:custGeom>
              <a:avLst/>
              <a:gdLst/>
              <a:ahLst/>
              <a:cxnLst/>
              <a:rect l="l" t="t" r="r" b="b"/>
              <a:pathLst>
                <a:path w="6959600" h="33909">
                  <a:moveTo>
                    <a:pt x="0" y="0"/>
                  </a:moveTo>
                  <a:lnTo>
                    <a:pt x="6959600" y="0"/>
                  </a:lnTo>
                  <a:lnTo>
                    <a:pt x="6959600" y="33909"/>
                  </a:lnTo>
                  <a:lnTo>
                    <a:pt x="0" y="33909"/>
                  </a:lnTo>
                  <a:lnTo>
                    <a:pt x="0" y="0"/>
                  </a:lnTo>
                  <a:close/>
                </a:path>
              </a:pathLst>
            </a:custGeom>
            <a:blipFill>
              <a:blip r:embed="rId3"/>
              <a:stretch>
                <a:fillRect b="112"/>
              </a:stretch>
            </a:blipFill>
          </p:spPr>
        </p:sp>
      </p:grpSp>
      <p:sp>
        <p:nvSpPr>
          <p:cNvPr id="6" name="TextBox 6">
            <a:extLst>
              <a:ext uri="{FF2B5EF4-FFF2-40B4-BE49-F238E27FC236}">
                <a16:creationId xmlns:a16="http://schemas.microsoft.com/office/drawing/2014/main" id="{384F397B-3B5A-FA8F-67EB-687EF643F84E}"/>
              </a:ext>
            </a:extLst>
          </p:cNvPr>
          <p:cNvSpPr txBox="1"/>
          <p:nvPr/>
        </p:nvSpPr>
        <p:spPr>
          <a:xfrm>
            <a:off x="323849" y="1429062"/>
            <a:ext cx="5260321" cy="321948"/>
          </a:xfrm>
          <a:prstGeom prst="rect">
            <a:avLst/>
          </a:prstGeom>
        </p:spPr>
        <p:txBody>
          <a:bodyPr lIns="0" tIns="0" rIns="0" bIns="0" rtlCol="0" anchor="t">
            <a:spAutoFit/>
          </a:bodyPr>
          <a:lstStyle/>
          <a:p>
            <a:pPr algn="l">
              <a:lnSpc>
                <a:spcPts val="2800"/>
              </a:lnSpc>
            </a:pP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6.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Kết</a:t>
            </a:r>
            <a:r>
              <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sz="2000" b="1" spc="-6" dirty="0" err="1">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rPr>
              <a:t>luận</a:t>
            </a:r>
            <a:endParaRPr lang="en-US" sz="2000" b="1" spc="-6" dirty="0">
              <a:solidFill>
                <a:srgbClr val="454545"/>
              </a:solidFill>
              <a:latin typeface="Tahoma" panose="020B0604030504040204" pitchFamily="34" charset="0"/>
              <a:ea typeface="Tahoma" panose="020B0604030504040204" pitchFamily="34" charset="0"/>
              <a:cs typeface="Tahoma" panose="020B0604030504040204" pitchFamily="34" charset="0"/>
              <a:sym typeface="Canva Sans Bold"/>
            </a:endParaRPr>
          </a:p>
        </p:txBody>
      </p:sp>
      <p:sp>
        <p:nvSpPr>
          <p:cNvPr id="7" name="TextBox 6">
            <a:extLst>
              <a:ext uri="{FF2B5EF4-FFF2-40B4-BE49-F238E27FC236}">
                <a16:creationId xmlns:a16="http://schemas.microsoft.com/office/drawing/2014/main" id="{206AB064-5CEE-FD13-A44E-D2C693AF2C81}"/>
              </a:ext>
            </a:extLst>
          </p:cNvPr>
          <p:cNvSpPr txBox="1"/>
          <p:nvPr/>
        </p:nvSpPr>
        <p:spPr>
          <a:xfrm>
            <a:off x="5314950" y="2914650"/>
            <a:ext cx="295275" cy="215444"/>
          </a:xfrm>
          <a:prstGeom prst="rect">
            <a:avLst/>
          </a:prstGeom>
          <a:noFill/>
        </p:spPr>
        <p:txBody>
          <a:bodyPr wrap="square">
            <a:spAutoFit/>
          </a:bodyPr>
          <a:lstStyle/>
          <a:p>
            <a:pPr algn="r"/>
            <a:r>
              <a:rPr lang="en-US" sz="800" dirty="0">
                <a:solidFill>
                  <a:srgbClr val="1C1C1A"/>
                </a:solidFill>
                <a:latin typeface="Tahoma" panose="020B0604030504040204" pitchFamily="34" charset="0"/>
                <a:ea typeface="Tahoma" panose="020B0604030504040204" pitchFamily="34" charset="0"/>
                <a:cs typeface="Tahoma" panose="020B0604030504040204" pitchFamily="34" charset="0"/>
                <a:sym typeface="Canva Sans"/>
              </a:rPr>
              <a:t>10</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64639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9"/>
            <a:ext cx="5760015" cy="3244567"/>
            <a:chOff x="0" y="0"/>
            <a:chExt cx="7680020" cy="4326090"/>
          </a:xfrm>
        </p:grpSpPr>
        <p:sp>
          <p:nvSpPr>
            <p:cNvPr id="3" name="Freeform 3"/>
            <p:cNvSpPr/>
            <p:nvPr/>
          </p:nvSpPr>
          <p:spPr>
            <a:xfrm>
              <a:off x="0" y="0"/>
              <a:ext cx="7680071" cy="4326128"/>
            </a:xfrm>
            <a:custGeom>
              <a:avLst/>
              <a:gdLst/>
              <a:ahLst/>
              <a:cxnLst/>
              <a:rect l="l" t="t" r="r" b="b"/>
              <a:pathLst>
                <a:path w="7680071" h="4326128">
                  <a:moveTo>
                    <a:pt x="0" y="0"/>
                  </a:moveTo>
                  <a:lnTo>
                    <a:pt x="7680071" y="0"/>
                  </a:lnTo>
                  <a:lnTo>
                    <a:pt x="7680071" y="4326128"/>
                  </a:lnTo>
                  <a:lnTo>
                    <a:pt x="0" y="4326128"/>
                  </a:lnTo>
                  <a:lnTo>
                    <a:pt x="0" y="0"/>
                  </a:lnTo>
                  <a:close/>
                </a:path>
              </a:pathLst>
            </a:custGeom>
            <a:blipFill>
              <a:blip r:embed="rId2"/>
              <a:stretch>
                <a:fillRect/>
              </a:stretch>
            </a:blipFill>
          </p:spPr>
        </p:sp>
      </p:grpSp>
      <p:grpSp>
        <p:nvGrpSpPr>
          <p:cNvPr id="4" name="Group 4"/>
          <p:cNvGrpSpPr/>
          <p:nvPr/>
        </p:nvGrpSpPr>
        <p:grpSpPr>
          <a:xfrm>
            <a:off x="370494" y="294608"/>
            <a:ext cx="1870358" cy="386620"/>
            <a:chOff x="0" y="0"/>
            <a:chExt cx="2493810" cy="515493"/>
          </a:xfrm>
        </p:grpSpPr>
        <p:sp>
          <p:nvSpPr>
            <p:cNvPr id="5" name="Freeform 5"/>
            <p:cNvSpPr/>
            <p:nvPr/>
          </p:nvSpPr>
          <p:spPr>
            <a:xfrm>
              <a:off x="0" y="0"/>
              <a:ext cx="2493772" cy="515493"/>
            </a:xfrm>
            <a:custGeom>
              <a:avLst/>
              <a:gdLst/>
              <a:ahLst/>
              <a:cxnLst/>
              <a:rect l="l" t="t" r="r" b="b"/>
              <a:pathLst>
                <a:path w="2493772" h="515493">
                  <a:moveTo>
                    <a:pt x="0" y="0"/>
                  </a:moveTo>
                  <a:lnTo>
                    <a:pt x="2493772" y="0"/>
                  </a:lnTo>
                  <a:lnTo>
                    <a:pt x="2493772" y="515493"/>
                  </a:lnTo>
                  <a:lnTo>
                    <a:pt x="0" y="515493"/>
                  </a:lnTo>
                  <a:lnTo>
                    <a:pt x="0" y="0"/>
                  </a:lnTo>
                  <a:close/>
                </a:path>
              </a:pathLst>
            </a:custGeom>
            <a:blipFill>
              <a:blip r:embed="rId3"/>
              <a:stretch>
                <a:fillRect r="-1"/>
              </a:stretch>
            </a:blipFill>
          </p:spPr>
        </p:sp>
      </p:grpSp>
      <p:pic>
        <p:nvPicPr>
          <p:cNvPr id="6" name="Picture 6"/>
          <p:cNvPicPr>
            <a:picLocks noChangeAspect="1"/>
          </p:cNvPicPr>
          <p:nvPr/>
        </p:nvPicPr>
        <p:blipFill>
          <a:blip r:embed="rId4"/>
          <a:stretch>
            <a:fillRect/>
          </a:stretch>
        </p:blipFill>
        <p:spPr>
          <a:xfrm>
            <a:off x="211206" y="1615573"/>
            <a:ext cx="1911457" cy="1458354"/>
          </a:xfrm>
          <a:prstGeom prst="rect">
            <a:avLst/>
          </a:prstGeom>
        </p:spPr>
      </p:pic>
      <p:sp>
        <p:nvSpPr>
          <p:cNvPr id="7" name="TextBox 7"/>
          <p:cNvSpPr txBox="1"/>
          <p:nvPr/>
        </p:nvSpPr>
        <p:spPr>
          <a:xfrm>
            <a:off x="113114" y="1226749"/>
            <a:ext cx="5539568" cy="326371"/>
          </a:xfrm>
          <a:prstGeom prst="rect">
            <a:avLst/>
          </a:prstGeom>
        </p:spPr>
        <p:txBody>
          <a:bodyPr lIns="0" tIns="0" rIns="0" bIns="0" rtlCol="0" anchor="t">
            <a:spAutoFit/>
          </a:bodyPr>
          <a:lstStyle/>
          <a:p>
            <a:pPr algn="ctr">
              <a:lnSpc>
                <a:spcPts val="2883"/>
              </a:lnSpc>
            </a:pP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Cảm</a:t>
            </a:r>
            <a:r>
              <a:rPr lang="en-US" b="1" spc="-6" dirty="0">
                <a:solidFill>
                  <a:srgbClr val="000000"/>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ơn</a:t>
            </a:r>
            <a:r>
              <a:rPr lang="en-US" b="1" spc="-6"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thầy</a:t>
            </a:r>
            <a:r>
              <a:rPr lang="en-US" b="1" spc="-6"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và</a:t>
            </a:r>
            <a:r>
              <a:rPr lang="en-US" b="1" spc="-6"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các</a:t>
            </a:r>
            <a:r>
              <a:rPr lang="en-US" b="1" spc="-6"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bạn</a:t>
            </a:r>
            <a:r>
              <a:rPr lang="en-US" b="1" spc="-6" dirty="0">
                <a:solidFill>
                  <a:srgbClr val="000000"/>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đã</a:t>
            </a:r>
            <a:r>
              <a:rPr lang="en-US" b="1" spc="-6" dirty="0">
                <a:solidFill>
                  <a:srgbClr val="000000"/>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chú</a:t>
            </a:r>
            <a:r>
              <a:rPr lang="en-US" b="1" spc="-6" dirty="0">
                <a:solidFill>
                  <a:srgbClr val="000000"/>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ý</a:t>
            </a:r>
            <a:r>
              <a:rPr lang="en-US" b="1" spc="-6" dirty="0">
                <a:solidFill>
                  <a:srgbClr val="000000"/>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lắng</a:t>
            </a:r>
            <a:r>
              <a:rPr lang="en-US" b="1" spc="-6" dirty="0">
                <a:solidFill>
                  <a:srgbClr val="000000"/>
                </a:solidFill>
                <a:latin typeface="Tahoma" panose="020B0604030504040204" pitchFamily="34" charset="0"/>
                <a:ea typeface="Tahoma" panose="020B0604030504040204" pitchFamily="34" charset="0"/>
                <a:cs typeface="Tahoma" panose="020B0604030504040204" pitchFamily="34" charset="0"/>
                <a:sym typeface="Canva Sans Bold"/>
              </a:rPr>
              <a:t> </a:t>
            </a:r>
            <a:r>
              <a:rPr lang="en-US" b="1" spc="-6" dirty="0" err="1">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nghe</a:t>
            </a:r>
            <a:r>
              <a:rPr lang="en-US" b="1" spc="-6" dirty="0">
                <a:solidFill>
                  <a:srgbClr val="F3F6F9"/>
                </a:solidFill>
                <a:latin typeface="Tahoma" panose="020B0604030504040204" pitchFamily="34" charset="0"/>
                <a:ea typeface="Tahoma" panose="020B0604030504040204" pitchFamily="34" charset="0"/>
                <a:cs typeface="Tahoma" panose="020B0604030504040204" pitchFamily="34" charset="0"/>
                <a:sym typeface="Canva Sa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878</Words>
  <Application>Microsoft Office PowerPoint</Application>
  <PresentationFormat>Custom</PresentationFormat>
  <Paragraphs>90</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Calibri</vt:lpstr>
      <vt:lpstr>Cambria Math</vt:lpstr>
      <vt:lpstr>Tahoma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[M25CQCS02] Nhóm 2 Slide thuyết trình bài tập lớn</dc:title>
  <dc:creator>Myf</dc:creator>
  <cp:lastModifiedBy>Hoan Nguyen Quang</cp:lastModifiedBy>
  <cp:revision>61</cp:revision>
  <dcterms:created xsi:type="dcterms:W3CDTF">2006-08-16T00:00:00Z</dcterms:created>
  <dcterms:modified xsi:type="dcterms:W3CDTF">2026-04-27T12:48:26Z</dcterms:modified>
  <dc:identifier>DAHHkanwpZs</dc:identifier>
</cp:coreProperties>
</file>