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256" r:id="rId2"/>
    <p:sldId id="257" r:id="rId3"/>
    <p:sldId id="258" r:id="rId4"/>
    <p:sldId id="259" r:id="rId5"/>
    <p:sldId id="300" r:id="rId6"/>
    <p:sldId id="307" r:id="rId7"/>
    <p:sldId id="308" r:id="rId8"/>
    <p:sldId id="309" r:id="rId9"/>
    <p:sldId id="310" r:id="rId10"/>
    <p:sldId id="301" r:id="rId11"/>
    <p:sldId id="306" r:id="rId12"/>
    <p:sldId id="311" r:id="rId13"/>
    <p:sldId id="312" r:id="rId14"/>
    <p:sldId id="313" r:id="rId15"/>
    <p:sldId id="302" r:id="rId16"/>
    <p:sldId id="314" r:id="rId17"/>
    <p:sldId id="315" r:id="rId18"/>
    <p:sldId id="303" r:id="rId19"/>
    <p:sldId id="316" r:id="rId20"/>
    <p:sldId id="317" r:id="rId21"/>
    <p:sldId id="318" r:id="rId22"/>
    <p:sldId id="319" r:id="rId23"/>
    <p:sldId id="304" r:id="rId24"/>
    <p:sldId id="320" r:id="rId25"/>
    <p:sldId id="297" r:id="rId26"/>
  </p:sldIdLst>
  <p:sldSz cx="5753100" cy="3238500"/>
  <p:notesSz cx="6858000" cy="9144000"/>
  <p:embeddedFontLst>
    <p:embeddedFont>
      <p:font typeface="Cambria Math" panose="02040503050406030204" pitchFamily="18" charset="0"/>
      <p:regular r:id="rId28"/>
    </p:embeddedFont>
    <p:embeddedFont>
      <p:font typeface="Tahoma" panose="020B0604030504040204" pitchFamily="34" charset="0"/>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03" autoAdjust="0"/>
    <p:restoredTop sz="83414" autoAdjust="0"/>
  </p:normalViewPr>
  <p:slideViewPr>
    <p:cSldViewPr>
      <p:cViewPr varScale="1">
        <p:scale>
          <a:sx n="181" d="100"/>
          <a:sy n="181" d="100"/>
        </p:scale>
        <p:origin x="1674" y="15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28.04.2026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2350" y="512763"/>
            <a:ext cx="45593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mởi đầu phần thuyết trình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2350" y="512763"/>
            <a:ext cx="45593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2350" y="512763"/>
            <a:ext cx="4559300" cy="2566987"/>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vi-VN" dirty="0"/>
              <a:t>Ở phần này, em giới thiệu mô hình Sequence-to-Sequence, hay còn gọi là Seq2Seq, một kiến trúc rất quan trọng trong xử lý ngôn ngữ tự nhiên, đặc biệt là trong bài toán dịch máy.</a:t>
            </a:r>
          </a:p>
          <a:p>
            <a:pPr marL="171450" indent="-171450">
              <a:buFont typeface="Arial" panose="020B0604020202020204" pitchFamily="34" charset="0"/>
              <a:buChar char="•"/>
            </a:pPr>
            <a:r>
              <a:rPr lang="vi-VN" dirty="0"/>
              <a:t>Ý tưởng chính của mô hình là chuyển đổi một chuỗi đầu vào sang một chuỗi đầu ra, ví dụ như dịch từ tiếng Anh sang tiếng Việt, trong đó độ dài hai chuỗi có thể khác nhau.</a:t>
            </a:r>
          </a:p>
          <a:p>
            <a:pPr marL="171450" indent="-171450">
              <a:buFont typeface="Arial" panose="020B0604020202020204" pitchFamily="34" charset="0"/>
              <a:buChar char="•"/>
            </a:pPr>
            <a:r>
              <a:rPr lang="vi-VN" dirty="0"/>
              <a:t>Mô hình Seq2Seq gồm hai thành phần chính là Encoder và Decoder.</a:t>
            </a:r>
          </a:p>
          <a:p>
            <a:pPr marL="171450" indent="-171450">
              <a:buFont typeface="Arial" panose="020B0604020202020204" pitchFamily="34" charset="0"/>
              <a:buChar char="•"/>
            </a:pPr>
            <a:r>
              <a:rPr lang="vi-VN" dirty="0"/>
              <a:t>Encoder có nhiệm vụ đọc toàn bộ câu đầu vào và mã hóa nó thành một vector gọi là context vector. Vector này được xem như một dạng biểu diễn cô đọng toàn bộ ý nghĩa của câu.</a:t>
            </a:r>
          </a:p>
          <a:p>
            <a:pPr marL="171450" indent="-171450">
              <a:buFont typeface="Arial" panose="020B0604020202020204" pitchFamily="34" charset="0"/>
              <a:buChar char="•"/>
            </a:pPr>
            <a:r>
              <a:rPr lang="vi-VN" dirty="0"/>
              <a:t>Sau đó, Decoder sẽ sử dụng vector này để sinh ra câu đầu ra từng từ một. Quá trình sinh diễn ra tuần tự, bắt đầu từ token </a:t>
            </a:r>
            <a:r>
              <a:rPr lang="vi-VN" sz="1200" kern="1200" dirty="0">
                <a:solidFill>
                  <a:schemeClr val="tx1"/>
                </a:solidFill>
                <a:latin typeface="+mn-lt"/>
                <a:ea typeface="+mn-ea"/>
                <a:cs typeface="+mn-cs"/>
              </a:rPr>
              <a:t>&lt;sos&gt;</a:t>
            </a:r>
            <a:r>
              <a:rPr lang="vi-VN" dirty="0"/>
              <a:t> và kết thúc khi sinh ra </a:t>
            </a:r>
            <a:r>
              <a:rPr lang="vi-VN" sz="1200" kern="1200" dirty="0">
                <a:solidFill>
                  <a:schemeClr val="tx1"/>
                </a:solidFill>
                <a:latin typeface="+mn-lt"/>
                <a:ea typeface="+mn-ea"/>
                <a:cs typeface="+mn-cs"/>
              </a:rPr>
              <a:t>&lt;eos&gt;</a:t>
            </a:r>
            <a:r>
              <a:rPr lang="vi-VN" dirty="0"/>
              <a:t>.</a:t>
            </a:r>
          </a:p>
          <a:p>
            <a:pPr marL="171450" indent="-171450">
              <a:buFont typeface="Arial" panose="020B0604020202020204" pitchFamily="34" charset="0"/>
              <a:buChar char="•"/>
            </a:pPr>
            <a:r>
              <a:rPr lang="vi-VN" dirty="0"/>
              <a:t>Trong quá trình này, mô hình hoạt động theo dạng autoregressive, tức là mỗi từ sinh ra sẽ phụ thuộc vào các từ đã sinh trước đó.</a:t>
            </a:r>
          </a:p>
          <a:p>
            <a:pPr marL="171450" indent="-171450">
              <a:buFont typeface="Arial" panose="020B0604020202020204" pitchFamily="34" charset="0"/>
              <a:buChar char="•"/>
            </a:pPr>
            <a:r>
              <a:rPr lang="vi-VN" dirty="0"/>
              <a:t>Tuy nhiên, điểm hạn chế lớn của Seq2Seq là việc nén toàn bộ thông tin của câu vào một vector duy nhất, dẫn đến mất thông tin khi câu quá dài, đồng thời mô hình phải xử lý tuần tự nên không thể song song hóa.</a:t>
            </a:r>
          </a:p>
          <a:p>
            <a:pPr marL="171450" indent="-171450">
              <a:buFont typeface="Arial" panose="020B0604020202020204" pitchFamily="34" charset="0"/>
              <a:buChar char="•"/>
            </a:pPr>
            <a:r>
              <a:rPr lang="vi-VN" dirty="0"/>
              <a:t>Chính vì những hạn chế này, các phương pháp cải tiến như Attention và sau này là Transformer đã được đề xuất để khắc phục</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29620398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6DD60-EBD2-3F82-D1D3-ACC729FDE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F2444-70AE-E7B8-983D-7143EE904981}"/>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AE41DEE6-2FA2-A203-1665-1347FADBD16F}"/>
              </a:ext>
            </a:extLst>
          </p:cNvPr>
          <p:cNvSpPr>
            <a:spLocks noGrp="1"/>
          </p:cNvSpPr>
          <p:nvPr>
            <p:ph type="body" idx="1"/>
          </p:nvPr>
        </p:nvSpPr>
        <p:spPr/>
        <p:txBody>
          <a:bodyPr/>
          <a:lstStyle/>
          <a:p>
            <a:pPr marL="171450" indent="-171450">
              <a:buFont typeface="Arial" panose="020B0604020202020204" pitchFamily="34" charset="0"/>
              <a:buChar char="•"/>
            </a:pPr>
            <a:r>
              <a:rPr lang="vi-VN" dirty="0"/>
              <a:t>Ở phần này, em trình bày về mô hình Transformer, một kiến trúc hiện đại được đề xuất nhằm khắc phục hạn chế của các mô hình tuần tự như RNN hay Seq2Seq.</a:t>
            </a:r>
          </a:p>
          <a:p>
            <a:pPr marL="171450" indent="-171450">
              <a:buFont typeface="Arial" panose="020B0604020202020204" pitchFamily="34" charset="0"/>
              <a:buChar char="•"/>
            </a:pPr>
            <a:r>
              <a:rPr lang="vi-VN" dirty="0"/>
              <a:t>Khác với các mô hình trước đó, Transformer không sử dụng RNN mà hoàn toàn dựa trên cơ chế Attention. Điều này giúp mô hình có thể xử lý song song toàn bộ chuỗi đầu vào, từ đó tăng tốc độ huấn luyện và cải thiện khả năng học phụ thuộc dài hạn trong câu.</a:t>
            </a:r>
          </a:p>
          <a:p>
            <a:pPr marL="171450" indent="-171450">
              <a:buFont typeface="Arial" panose="020B0604020202020204" pitchFamily="34" charset="0"/>
              <a:buChar char="•"/>
            </a:pPr>
            <a:r>
              <a:rPr lang="vi-VN" dirty="0"/>
              <a:t>Kiến trúc Transformer gồm hai thành phần chính là Encoder và Decoder.</a:t>
            </a:r>
          </a:p>
          <a:p>
            <a:pPr marL="171450" indent="-171450">
              <a:buFont typeface="Arial" panose="020B0604020202020204" pitchFamily="34" charset="0"/>
              <a:buChar char="•"/>
            </a:pPr>
            <a:r>
              <a:rPr lang="vi-VN" dirty="0"/>
              <a:t>Encoder có nhiệm vụ chuyển câu đầu vào thành các biểu diễn ngữ nghĩa giàu thông tin thông qua cơ chế Self-Attention. Decoder sử dụng các biểu diễn này để sinh ra câu đầu ra.</a:t>
            </a:r>
          </a:p>
          <a:p>
            <a:pPr marL="171450" indent="-171450">
              <a:buFont typeface="Arial" panose="020B0604020202020204" pitchFamily="34" charset="0"/>
              <a:buChar char="•"/>
            </a:pPr>
            <a:r>
              <a:rPr lang="vi-VN" dirty="0"/>
              <a:t>Điểm cốt lõi của Transformer là cơ chế Self-Attention, cho phép mỗi từ trong câu có thể “nhìn” và tính mức độ liên quan với tất cả các từ còn lại, từ đó tạo ra biểu diễn ngữ cảnh tốt hơn so với việc chỉ xử lý tuần tự.</a:t>
            </a:r>
          </a:p>
          <a:p>
            <a:pPr marL="171450" indent="-171450">
              <a:buFont typeface="Arial" panose="020B0604020202020204" pitchFamily="34" charset="0"/>
              <a:buChar char="•"/>
            </a:pPr>
            <a:r>
              <a:rPr lang="vi-VN" dirty="0"/>
              <a:t>Ngoài ra, mỗi từ được biểu diễn thông qua ba vector là Query, Key và Value. Các vector này giúp mô hình xác định mức độ liên quan giữa các từ và tổng hợp thông tin phù hợp cho từng vị trí.</a:t>
            </a:r>
          </a:p>
          <a:p>
            <a:pPr marL="171450" indent="-171450">
              <a:buFont typeface="Arial" panose="020B0604020202020204" pitchFamily="34" charset="0"/>
              <a:buChar char="•"/>
            </a:pPr>
            <a:r>
              <a:rPr lang="vi-VN" dirty="0"/>
              <a:t>Transformer cũng sử dụng Multi-Head Attention, tức là nhiều cơ chế attention song song, giúp mô hình học được nhiều kiểu quan hệ khác nhau trong câu như ngữ pháp, ngữ nghĩa hoặc phụ thuộc xa.</a:t>
            </a:r>
          </a:p>
          <a:p>
            <a:pPr marL="171450" indent="-171450">
              <a:buFont typeface="Arial" panose="020B0604020202020204" pitchFamily="34" charset="0"/>
              <a:buChar char="•"/>
            </a:pPr>
            <a:r>
              <a:rPr lang="vi-VN" dirty="0"/>
              <a:t>Ở phía Decoder, ngoài Self-Attention còn có thêm Encoder–Decoder Attention để kết nối thông tin giữa câu nguồn và câu đích. Đồng thời, cơ chế masking được sử dụng để đảm bảo mô hình chỉ nhìn các từ đã sinh trước đó, tránh “nhìn trước” tương lai.</a:t>
            </a:r>
          </a:p>
          <a:p>
            <a:pPr marL="171450" indent="-171450">
              <a:buFont typeface="Arial" panose="020B0604020202020204" pitchFamily="34" charset="0"/>
              <a:buChar char="•"/>
            </a:pPr>
            <a:r>
              <a:rPr lang="vi-VN" dirty="0"/>
              <a:t>Nhờ những cải tiến này, Transformer đã trở thành nền tảng cho các mô hình hiện đại như BERT, GPT và các hệ thống dịch máy tiên tiến.</a:t>
            </a:r>
          </a:p>
        </p:txBody>
      </p:sp>
      <p:sp>
        <p:nvSpPr>
          <p:cNvPr id="4" name="Slide Number Placeholder 3">
            <a:extLst>
              <a:ext uri="{FF2B5EF4-FFF2-40B4-BE49-F238E27FC236}">
                <a16:creationId xmlns:a16="http://schemas.microsoft.com/office/drawing/2014/main" id="{994BFEB6-D76E-6992-F80E-9948773492F4}"/>
              </a:ext>
            </a:extLst>
          </p:cNvPr>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4170018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C0B14-05A4-48B6-3683-5D40516285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FBE8C1-112D-7E9D-75EC-75C3E0190037}"/>
              </a:ext>
            </a:extLst>
          </p:cNvPr>
          <p:cNvSpPr>
            <a:spLocks noGrp="1" noRot="1" noChangeAspect="1"/>
          </p:cNvSpPr>
          <p:nvPr>
            <p:ph type="sldImg"/>
          </p:nvPr>
        </p:nvSpPr>
        <p:spPr>
          <a:xfrm>
            <a:off x="2292350" y="512763"/>
            <a:ext cx="4559300" cy="2566987"/>
          </a:xfrm>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ACC12A4B-0030-964C-FBF1-ED1DA0042473}"/>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Ngôn ngữ nguồn được xử lý bằng bộ tách từ </a:t>
                </a:r>
                <a14:m>
                  <m:oMath xmlns:m="http://schemas.openxmlformats.org/officeDocument/2006/math">
                    <m:r>
                      <a:rPr lang="vi-VN" sz="1200" i="1" kern="1200">
                        <a:solidFill>
                          <a:schemeClr val="tx1"/>
                        </a:solidFill>
                        <a:effectLst/>
                        <a:latin typeface="+mn-lt"/>
                        <a:ea typeface="+mn-ea"/>
                        <a:cs typeface="+mn-cs"/>
                      </a:rPr>
                      <m:t>𝑒𝑛</m:t>
                    </m:r>
                    <m:r>
                      <a:rPr lang="vi-VN" sz="1200" i="1" kern="1200">
                        <a:solidFill>
                          <a:schemeClr val="tx1"/>
                        </a:solidFill>
                        <a:effectLst/>
                        <a:latin typeface="+mn-lt"/>
                        <a:ea typeface="+mn-ea"/>
                        <a:cs typeface="+mn-cs"/>
                      </a:rPr>
                      <m:t>_</m:t>
                    </m:r>
                    <m:r>
                      <a:rPr lang="vi-VN" sz="1200" i="1" kern="1200">
                        <a:solidFill>
                          <a:schemeClr val="tx1"/>
                        </a:solidFill>
                        <a:effectLst/>
                        <a:latin typeface="+mn-lt"/>
                        <a:ea typeface="+mn-ea"/>
                        <a:cs typeface="+mn-cs"/>
                      </a:rPr>
                      <m:t>𝑐𝑜𝑟𝑒</m:t>
                    </m:r>
                    <m:r>
                      <a:rPr lang="vi-VN" sz="1200" i="1" kern="1200">
                        <a:solidFill>
                          <a:schemeClr val="tx1"/>
                        </a:solidFill>
                        <a:effectLst/>
                        <a:latin typeface="+mn-lt"/>
                        <a:ea typeface="+mn-ea"/>
                        <a:cs typeface="+mn-cs"/>
                      </a:rPr>
                      <m:t>_</m:t>
                    </m:r>
                    <m:r>
                      <a:rPr lang="vi-VN" sz="1200" i="1" kern="1200">
                        <a:solidFill>
                          <a:schemeClr val="tx1"/>
                        </a:solidFill>
                        <a:effectLst/>
                        <a:latin typeface="+mn-lt"/>
                        <a:ea typeface="+mn-ea"/>
                        <a:cs typeface="+mn-cs"/>
                      </a:rPr>
                      <m:t>𝑤𝑒𝑏</m:t>
                    </m:r>
                    <m:r>
                      <a:rPr lang="vi-VN" sz="1200" i="1" kern="1200">
                        <a:solidFill>
                          <a:schemeClr val="tx1"/>
                        </a:solidFill>
                        <a:effectLst/>
                        <a:latin typeface="+mn-lt"/>
                        <a:ea typeface="+mn-ea"/>
                        <a:cs typeface="+mn-cs"/>
                      </a:rPr>
                      <m:t>_</m:t>
                    </m:r>
                    <m:r>
                      <a:rPr lang="vi-VN" sz="1200" i="1" kern="1200">
                        <a:solidFill>
                          <a:schemeClr val="tx1"/>
                        </a:solidFill>
                        <a:effectLst/>
                        <a:latin typeface="+mn-lt"/>
                        <a:ea typeface="+mn-ea"/>
                        <a:cs typeface="+mn-cs"/>
                      </a:rPr>
                      <m:t>𝑠𝑚</m:t>
                    </m:r>
                  </m:oMath>
                </a14:m>
                <a:r>
                  <a:rPr lang="vi-VN" sz="1200" kern="1200" dirty="0">
                    <a:solidFill>
                      <a:schemeClr val="tx1"/>
                    </a:solidFill>
                    <a:effectLst/>
                    <a:latin typeface="+mn-lt"/>
                    <a:ea typeface="+mn-ea"/>
                    <a:cs typeface="+mn-cs"/>
                  </a:rPr>
                  <a:t>, trong khi ngôn ngữ đích sử dụng </a:t>
                </a:r>
                <a14:m>
                  <m:oMath xmlns:m="http://schemas.openxmlformats.org/officeDocument/2006/math">
                    <m:r>
                      <a:rPr lang="vi-VN" sz="1200" i="1" kern="1200">
                        <a:solidFill>
                          <a:schemeClr val="tx1"/>
                        </a:solidFill>
                        <a:effectLst/>
                        <a:latin typeface="+mn-lt"/>
                        <a:ea typeface="+mn-ea"/>
                        <a:cs typeface="+mn-cs"/>
                      </a:rPr>
                      <m:t>𝑣𝑖</m:t>
                    </m:r>
                    <m:r>
                      <a:rPr lang="vi-VN" sz="1200" i="1" kern="1200">
                        <a:solidFill>
                          <a:schemeClr val="tx1"/>
                        </a:solidFill>
                        <a:effectLst/>
                        <a:latin typeface="+mn-lt"/>
                        <a:ea typeface="+mn-ea"/>
                        <a:cs typeface="+mn-cs"/>
                      </a:rPr>
                      <m:t>_</m:t>
                    </m:r>
                    <m:r>
                      <a:rPr lang="vi-VN" sz="1200" i="1" kern="1200">
                        <a:solidFill>
                          <a:schemeClr val="tx1"/>
                        </a:solidFill>
                        <a:effectLst/>
                        <a:latin typeface="+mn-lt"/>
                        <a:ea typeface="+mn-ea"/>
                        <a:cs typeface="+mn-cs"/>
                      </a:rPr>
                      <m:t>𝑐𝑜𝑟𝑒</m:t>
                    </m:r>
                    <m:r>
                      <a:rPr lang="vi-VN" sz="1200" i="1" kern="1200">
                        <a:solidFill>
                          <a:schemeClr val="tx1"/>
                        </a:solidFill>
                        <a:effectLst/>
                        <a:latin typeface="+mn-lt"/>
                        <a:ea typeface="+mn-ea"/>
                        <a:cs typeface="+mn-cs"/>
                      </a:rPr>
                      <m:t>_</m:t>
                    </m:r>
                    <m:r>
                      <a:rPr lang="vi-VN" sz="1200" i="1" kern="1200">
                        <a:solidFill>
                          <a:schemeClr val="tx1"/>
                        </a:solidFill>
                        <a:effectLst/>
                        <a:latin typeface="+mn-lt"/>
                        <a:ea typeface="+mn-ea"/>
                        <a:cs typeface="+mn-cs"/>
                      </a:rPr>
                      <m:t>𝑛𝑒𝑤𝑠</m:t>
                    </m:r>
                    <m:r>
                      <a:rPr lang="vi-VN" sz="1200" i="1" kern="1200">
                        <a:solidFill>
                          <a:schemeClr val="tx1"/>
                        </a:solidFill>
                        <a:effectLst/>
                        <a:latin typeface="+mn-lt"/>
                        <a:ea typeface="+mn-ea"/>
                        <a:cs typeface="+mn-cs"/>
                      </a:rPr>
                      <m:t>_</m:t>
                    </m:r>
                    <m:r>
                      <a:rPr lang="vi-VN" sz="1200" i="1" kern="1200">
                        <a:solidFill>
                          <a:schemeClr val="tx1"/>
                        </a:solidFill>
                        <a:effectLst/>
                        <a:latin typeface="+mn-lt"/>
                        <a:ea typeface="+mn-ea"/>
                        <a:cs typeface="+mn-cs"/>
                      </a:rPr>
                      <m:t>𝑙𝑔</m:t>
                    </m:r>
                  </m:oMath>
                </a14:m>
                <a:r>
                  <a:rPr lang="vi-VN" sz="1200" kern="1200" dirty="0">
                    <a:solidFill>
                      <a:schemeClr val="tx1"/>
                    </a:solidFill>
                    <a:effectLst/>
                    <a:latin typeface="+mn-lt"/>
                    <a:ea typeface="+mn-ea"/>
                    <a:cs typeface="+mn-cs"/>
                  </a:rPr>
                  <a:t> nhằm đảm bảo việc phân tách từ phù hợp với đặc trưng của từng ngôn ngữ. Độ dài tối đa của mỗi câu được giới hạn ở </a:t>
                </a:r>
                <a14:m>
                  <m:oMath xmlns:m="http://schemas.openxmlformats.org/officeDocument/2006/math">
                    <m:r>
                      <a:rPr lang="vi-VN" sz="1200" i="1" kern="1200">
                        <a:solidFill>
                          <a:schemeClr val="tx1"/>
                        </a:solidFill>
                        <a:effectLst/>
                        <a:latin typeface="+mn-lt"/>
                        <a:ea typeface="+mn-ea"/>
                        <a:cs typeface="+mn-cs"/>
                      </a:rPr>
                      <m:t>160 </m:t>
                    </m:r>
                    <m:r>
                      <a:rPr lang="vi-VN" sz="1200" i="1" kern="1200">
                        <a:solidFill>
                          <a:schemeClr val="tx1"/>
                        </a:solidFill>
                        <a:effectLst/>
                        <a:latin typeface="+mn-lt"/>
                        <a:ea typeface="+mn-ea"/>
                        <a:cs typeface="+mn-cs"/>
                      </a:rPr>
                      <m:t>𝑡𝑜𝑘𝑒𝑛</m:t>
                    </m:r>
                  </m:oMath>
                </a14:m>
                <a:r>
                  <a:rPr lang="vi-VN" sz="1200" kern="1200" dirty="0">
                    <a:solidFill>
                      <a:schemeClr val="tx1"/>
                    </a:solidFill>
                    <a:effectLst/>
                    <a:latin typeface="+mn-lt"/>
                    <a:ea typeface="+mn-ea"/>
                    <a:cs typeface="+mn-cs"/>
                  </a:rPr>
                  <a:t>, giúp kiểm soát kích thước đầu vào và đầu ra trong quá trình huấn luyện.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Dữ liệu được chia theo batch với kích thước </a:t>
                </a:r>
                <a14:m>
                  <m:oMath xmlns:m="http://schemas.openxmlformats.org/officeDocument/2006/math">
                    <m:r>
                      <a:rPr lang="vi-VN" sz="1200" i="1" kern="1200">
                        <a:solidFill>
                          <a:schemeClr val="tx1"/>
                        </a:solidFill>
                        <a:effectLst/>
                        <a:latin typeface="+mn-lt"/>
                        <a:ea typeface="+mn-ea"/>
                        <a:cs typeface="+mn-cs"/>
                      </a:rPr>
                      <m:t>1500</m:t>
                    </m:r>
                  </m:oMath>
                </a14:m>
                <a:r>
                  <a:rPr lang="vi-VN" sz="1200" kern="1200" dirty="0">
                    <a:solidFill>
                      <a:schemeClr val="tx1"/>
                    </a:solidFill>
                    <a:effectLst/>
                    <a:latin typeface="+mn-lt"/>
                    <a:ea typeface="+mn-ea"/>
                    <a:cs typeface="+mn-cs"/>
                  </a:rPr>
                  <a:t>, và toàn bộ quá trình huấn luyện được thực hiện trên GPU (CUDA) nhằm tăng tốc độ tính toán.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Về kiến trúc mô hình, vector embedding của encoder và decoder đều có kích thước </a:t>
                </a:r>
                <a14:m>
                  <m:oMath xmlns:m="http://schemas.openxmlformats.org/officeDocument/2006/math">
                    <m:r>
                      <a:rPr lang="vi-VN" sz="1200" i="1" kern="1200">
                        <a:solidFill>
                          <a:schemeClr val="tx1"/>
                        </a:solidFill>
                        <a:effectLst/>
                        <a:latin typeface="+mn-lt"/>
                        <a:ea typeface="+mn-ea"/>
                        <a:cs typeface="+mn-cs"/>
                      </a:rPr>
                      <m:t>256</m:t>
                    </m:r>
                  </m:oMath>
                </a14:m>
                <a:r>
                  <a:rPr lang="vi-VN" sz="1200" kern="1200" dirty="0">
                    <a:solidFill>
                      <a:schemeClr val="tx1"/>
                    </a:solidFill>
                    <a:effectLst/>
                    <a:latin typeface="+mn-lt"/>
                    <a:ea typeface="+mn-ea"/>
                    <a:cs typeface="+mn-cs"/>
                  </a:rPr>
                  <a:t> chiều, trong khi hidden state được thiết lập ở mức </a:t>
                </a:r>
                <a14:m>
                  <m:oMath xmlns:m="http://schemas.openxmlformats.org/officeDocument/2006/math">
                    <m:r>
                      <a:rPr lang="vi-VN" sz="1200" i="1" kern="1200">
                        <a:solidFill>
                          <a:schemeClr val="tx1"/>
                        </a:solidFill>
                        <a:effectLst/>
                        <a:latin typeface="+mn-lt"/>
                        <a:ea typeface="+mn-ea"/>
                        <a:cs typeface="+mn-cs"/>
                      </a:rPr>
                      <m:t>512</m:t>
                    </m:r>
                  </m:oMath>
                </a14:m>
                <a:r>
                  <a:rPr lang="vi-VN" sz="1200" kern="1200" dirty="0">
                    <a:solidFill>
                      <a:schemeClr val="tx1"/>
                    </a:solidFill>
                    <a:effectLst/>
                    <a:latin typeface="+mn-lt"/>
                    <a:ea typeface="+mn-ea"/>
                    <a:cs typeface="+mn-cs"/>
                  </a:rPr>
                  <a:t> chiều. Mô hình bao gồm </a:t>
                </a:r>
                <a14:m>
                  <m:oMath xmlns:m="http://schemas.openxmlformats.org/officeDocument/2006/math">
                    <m:r>
                      <a:rPr lang="vi-VN" sz="1200" i="1" kern="1200">
                        <a:solidFill>
                          <a:schemeClr val="tx1"/>
                        </a:solidFill>
                        <a:effectLst/>
                        <a:latin typeface="+mn-lt"/>
                        <a:ea typeface="+mn-ea"/>
                        <a:cs typeface="+mn-cs"/>
                      </a:rPr>
                      <m:t>2</m:t>
                    </m:r>
                  </m:oMath>
                </a14:m>
                <a:r>
                  <a:rPr lang="vi-VN" sz="1200" kern="1200" dirty="0">
                    <a:solidFill>
                      <a:schemeClr val="tx1"/>
                    </a:solidFill>
                    <a:effectLst/>
                    <a:latin typeface="+mn-lt"/>
                    <a:ea typeface="+mn-ea"/>
                    <a:cs typeface="+mn-cs"/>
                  </a:rPr>
                  <a:t> lớp (layers) cho cả encoder và decoder. Để giảm hiện tượng overfitting, dropout được áp dụng với tỷ lệ </a:t>
                </a:r>
                <a14:m>
                  <m:oMath xmlns:m="http://schemas.openxmlformats.org/officeDocument/2006/math">
                    <m:r>
                      <a:rPr lang="vi-VN" sz="1200" i="1" kern="1200">
                        <a:solidFill>
                          <a:schemeClr val="tx1"/>
                        </a:solidFill>
                        <a:effectLst/>
                        <a:latin typeface="+mn-lt"/>
                        <a:ea typeface="+mn-ea"/>
                        <a:cs typeface="+mn-cs"/>
                      </a:rPr>
                      <m:t>0.5</m:t>
                    </m:r>
                  </m:oMath>
                </a14:m>
                <a:r>
                  <a:rPr lang="vi-VN" sz="1200" kern="1200" dirty="0">
                    <a:solidFill>
                      <a:schemeClr val="tx1"/>
                    </a:solidFill>
                    <a:effectLst/>
                    <a:latin typeface="+mn-lt"/>
                    <a:ea typeface="+mn-ea"/>
                    <a:cs typeface="+mn-cs"/>
                  </a:rPr>
                  <a:t> cho cả hai phía encoder và decoder.</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Quá trình tối ưu sử dụng learning rate </a:t>
                </a:r>
                <a14:m>
                  <m:oMath xmlns:m="http://schemas.openxmlformats.org/officeDocument/2006/math">
                    <m:r>
                      <a:rPr lang="vi-VN" sz="1200" i="1" kern="1200">
                        <a:solidFill>
                          <a:schemeClr val="tx1"/>
                        </a:solidFill>
                        <a:effectLst/>
                        <a:latin typeface="+mn-lt"/>
                        <a:ea typeface="+mn-ea"/>
                        <a:cs typeface="+mn-cs"/>
                      </a:rPr>
                      <m:t>0.001</m:t>
                    </m:r>
                  </m:oMath>
                </a14:m>
                <a:r>
                  <a:rPr lang="vi-VN" sz="1200" kern="1200" dirty="0">
                    <a:solidFill>
                      <a:schemeClr val="tx1"/>
                    </a:solidFill>
                    <a:effectLst/>
                    <a:latin typeface="+mn-lt"/>
                    <a:ea typeface="+mn-ea"/>
                    <a:cs typeface="+mn-cs"/>
                  </a:rPr>
                  <a:t>, với tổng số </a:t>
                </a:r>
                <a14:m>
                  <m:oMath xmlns:m="http://schemas.openxmlformats.org/officeDocument/2006/math">
                    <m:r>
                      <a:rPr lang="vi-VN" sz="1200" i="1" kern="1200">
                        <a:solidFill>
                          <a:schemeClr val="tx1"/>
                        </a:solidFill>
                        <a:effectLst/>
                        <a:latin typeface="+mn-lt"/>
                        <a:ea typeface="+mn-ea"/>
                        <a:cs typeface="+mn-cs"/>
                      </a:rPr>
                      <m:t>11</m:t>
                    </m:r>
                  </m:oMath>
                </a14:m>
                <a:r>
                  <a:rPr lang="vi-VN" sz="1200" kern="1200" dirty="0">
                    <a:solidFill>
                      <a:schemeClr val="tx1"/>
                    </a:solidFill>
                    <a:effectLst/>
                    <a:latin typeface="+mn-lt"/>
                    <a:ea typeface="+mn-ea"/>
                    <a:cs typeface="+mn-cs"/>
                  </a:rPr>
                  <a:t> epochs huấn luyện. Ngoài ra, gradient clipping với giá trị </a:t>
                </a:r>
                <a14:m>
                  <m:oMath xmlns:m="http://schemas.openxmlformats.org/officeDocument/2006/math">
                    <m:r>
                      <a:rPr lang="vi-VN" sz="1200" i="1" kern="1200">
                        <a:solidFill>
                          <a:schemeClr val="tx1"/>
                        </a:solidFill>
                        <a:effectLst/>
                        <a:latin typeface="+mn-lt"/>
                        <a:ea typeface="+mn-ea"/>
                        <a:cs typeface="+mn-cs"/>
                      </a:rPr>
                      <m:t>1.0</m:t>
                    </m:r>
                  </m:oMath>
                </a14:m>
                <a:r>
                  <a:rPr lang="vi-VN" sz="1200" kern="1200" dirty="0">
                    <a:solidFill>
                      <a:schemeClr val="tx1"/>
                    </a:solidFill>
                    <a:effectLst/>
                    <a:latin typeface="+mn-lt"/>
                    <a:ea typeface="+mn-ea"/>
                    <a:cs typeface="+mn-cs"/>
                  </a:rPr>
                  <a:t> được áp dụng nhằm ổn định quá trình lan truyền ngược. Trong quá trình huấn luyện, kỹ thuật teacher forcing được sử dụng với tỷ lệ </a:t>
                </a:r>
                <a14:m>
                  <m:oMath xmlns:m="http://schemas.openxmlformats.org/officeDocument/2006/math">
                    <m:r>
                      <a:rPr lang="vi-VN" sz="1200" i="1" kern="1200">
                        <a:solidFill>
                          <a:schemeClr val="tx1"/>
                        </a:solidFill>
                        <a:effectLst/>
                        <a:latin typeface="+mn-lt"/>
                        <a:ea typeface="+mn-ea"/>
                        <a:cs typeface="+mn-cs"/>
                      </a:rPr>
                      <m:t>0.5</m:t>
                    </m:r>
                  </m:oMath>
                </a14:m>
                <a:r>
                  <a:rPr lang="vi-VN" sz="1200" kern="1200" dirty="0">
                    <a:solidFill>
                      <a:schemeClr val="tx1"/>
                    </a:solidFill>
                    <a:effectLst/>
                    <a:latin typeface="+mn-lt"/>
                    <a:ea typeface="+mn-ea"/>
                    <a:cs typeface="+mn-cs"/>
                  </a:rPr>
                  <a:t> để cải thiện khả năng hội tụ của mô hình.</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a:t>
                </a:r>
                <a14:m>
                  <m:oMath xmlns:m="http://schemas.openxmlformats.org/officeDocument/2006/math">
                    <m:r>
                      <a:rPr lang="vi-VN" sz="1200" i="1" kern="1200">
                        <a:solidFill>
                          <a:schemeClr val="tx1"/>
                        </a:solidFill>
                        <a:effectLst/>
                        <a:latin typeface="+mn-lt"/>
                        <a:ea typeface="+mn-ea"/>
                        <a:cs typeface="+mn-cs"/>
                      </a:rPr>
                      <m:t>0378</m:t>
                    </m:r>
                  </m:oMath>
                </a14:m>
                <a:endParaRPr lang="en-US" sz="1200" kern="1200" dirty="0">
                  <a:solidFill>
                    <a:schemeClr val="tx1"/>
                  </a:solidFill>
                  <a:effectLst/>
                  <a:latin typeface="+mn-lt"/>
                  <a:ea typeface="+mn-ea"/>
                  <a:cs typeface="+mn-cs"/>
                </a:endParaRPr>
              </a:p>
            </p:txBody>
          </p:sp>
        </mc:Choice>
        <mc:Fallback>
          <p:sp>
            <p:nvSpPr>
              <p:cNvPr id="3" name="Notes Placeholder 2">
                <a:extLst>
                  <a:ext uri="{FF2B5EF4-FFF2-40B4-BE49-F238E27FC236}">
                    <a16:creationId xmlns:a16="http://schemas.microsoft.com/office/drawing/2014/main" id="{ACC12A4B-0030-964C-FBF1-ED1DA0042473}"/>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Ngôn ngữ nguồn được xử lý bằng bộ tách từ </a:t>
                </a:r>
                <a:r>
                  <a:rPr lang="vi-VN" sz="1200" i="0" kern="1200">
                    <a:solidFill>
                      <a:schemeClr val="tx1"/>
                    </a:solidFill>
                    <a:effectLst/>
                    <a:latin typeface="+mn-lt"/>
                    <a:ea typeface="+mn-ea"/>
                    <a:cs typeface="+mn-cs"/>
                  </a:rPr>
                  <a:t>𝑒𝑛_𝑐𝑜𝑟𝑒_𝑤𝑒𝑏_𝑠𝑚</a:t>
                </a:r>
                <a:r>
                  <a:rPr lang="vi-VN" sz="1200" kern="1200" dirty="0">
                    <a:solidFill>
                      <a:schemeClr val="tx1"/>
                    </a:solidFill>
                    <a:effectLst/>
                    <a:latin typeface="+mn-lt"/>
                    <a:ea typeface="+mn-ea"/>
                    <a:cs typeface="+mn-cs"/>
                  </a:rPr>
                  <a:t>, trong khi ngôn ngữ đích sử dụng </a:t>
                </a:r>
                <a:r>
                  <a:rPr lang="vi-VN" sz="1200" i="0" kern="1200">
                    <a:solidFill>
                      <a:schemeClr val="tx1"/>
                    </a:solidFill>
                    <a:effectLst/>
                    <a:latin typeface="+mn-lt"/>
                    <a:ea typeface="+mn-ea"/>
                    <a:cs typeface="+mn-cs"/>
                  </a:rPr>
                  <a:t>𝑣𝑖_𝑐𝑜𝑟𝑒_𝑛𝑒𝑤𝑠_𝑙𝑔</a:t>
                </a:r>
                <a:r>
                  <a:rPr lang="vi-VN" sz="1200" kern="1200" dirty="0">
                    <a:solidFill>
                      <a:schemeClr val="tx1"/>
                    </a:solidFill>
                    <a:effectLst/>
                    <a:latin typeface="+mn-lt"/>
                    <a:ea typeface="+mn-ea"/>
                    <a:cs typeface="+mn-cs"/>
                  </a:rPr>
                  <a:t> nhằm đảm bảo việc phân tách từ phù hợp với đặc trưng của từng ngôn ngữ. Độ dài tối đa của mỗi câu được giới hạn ở </a:t>
                </a:r>
                <a:r>
                  <a:rPr lang="vi-VN" sz="1200" i="0" kern="1200">
                    <a:solidFill>
                      <a:schemeClr val="tx1"/>
                    </a:solidFill>
                    <a:effectLst/>
                    <a:latin typeface="+mn-lt"/>
                    <a:ea typeface="+mn-ea"/>
                    <a:cs typeface="+mn-cs"/>
                  </a:rPr>
                  <a:t>160 𝑡𝑜𝑘𝑒𝑛</a:t>
                </a:r>
                <a:r>
                  <a:rPr lang="vi-VN" sz="1200" kern="1200" dirty="0">
                    <a:solidFill>
                      <a:schemeClr val="tx1"/>
                    </a:solidFill>
                    <a:effectLst/>
                    <a:latin typeface="+mn-lt"/>
                    <a:ea typeface="+mn-ea"/>
                    <a:cs typeface="+mn-cs"/>
                  </a:rPr>
                  <a:t>, giúp kiểm soát kích thước đầu vào và đầu ra trong quá trình huấn luyện.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Dữ liệu được chia theo batch với kích thước </a:t>
                </a:r>
                <a:r>
                  <a:rPr lang="vi-VN" sz="1200" i="0" kern="1200">
                    <a:solidFill>
                      <a:schemeClr val="tx1"/>
                    </a:solidFill>
                    <a:effectLst/>
                    <a:latin typeface="+mn-lt"/>
                    <a:ea typeface="+mn-ea"/>
                    <a:cs typeface="+mn-cs"/>
                  </a:rPr>
                  <a:t>1500</a:t>
                </a:r>
                <a:r>
                  <a:rPr lang="vi-VN" sz="1200" kern="1200" dirty="0">
                    <a:solidFill>
                      <a:schemeClr val="tx1"/>
                    </a:solidFill>
                    <a:effectLst/>
                    <a:latin typeface="+mn-lt"/>
                    <a:ea typeface="+mn-ea"/>
                    <a:cs typeface="+mn-cs"/>
                  </a:rPr>
                  <a:t>, và toàn bộ quá trình huấn luyện được thực hiện trên GPU (CUDA) nhằm tăng tốc độ tính toán.</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Về kiến trúc mô hình, vector embedding của encoder và decoder đều có kích thước </a:t>
                </a:r>
                <a:r>
                  <a:rPr lang="vi-VN" sz="1200" i="0" kern="1200">
                    <a:solidFill>
                      <a:schemeClr val="tx1"/>
                    </a:solidFill>
                    <a:effectLst/>
                    <a:latin typeface="+mn-lt"/>
                    <a:ea typeface="+mn-ea"/>
                    <a:cs typeface="+mn-cs"/>
                  </a:rPr>
                  <a:t>256</a:t>
                </a:r>
                <a:r>
                  <a:rPr lang="vi-VN" sz="1200" kern="1200" dirty="0">
                    <a:solidFill>
                      <a:schemeClr val="tx1"/>
                    </a:solidFill>
                    <a:effectLst/>
                    <a:latin typeface="+mn-lt"/>
                    <a:ea typeface="+mn-ea"/>
                    <a:cs typeface="+mn-cs"/>
                  </a:rPr>
                  <a:t> chiều, trong khi hidden state được thiết lập ở mức </a:t>
                </a:r>
                <a:r>
                  <a:rPr lang="vi-VN" sz="1200" i="0" kern="1200">
                    <a:solidFill>
                      <a:schemeClr val="tx1"/>
                    </a:solidFill>
                    <a:effectLst/>
                    <a:latin typeface="+mn-lt"/>
                    <a:ea typeface="+mn-ea"/>
                    <a:cs typeface="+mn-cs"/>
                  </a:rPr>
                  <a:t>512</a:t>
                </a:r>
                <a:r>
                  <a:rPr lang="vi-VN" sz="1200" kern="1200" dirty="0">
                    <a:solidFill>
                      <a:schemeClr val="tx1"/>
                    </a:solidFill>
                    <a:effectLst/>
                    <a:latin typeface="+mn-lt"/>
                    <a:ea typeface="+mn-ea"/>
                    <a:cs typeface="+mn-cs"/>
                  </a:rPr>
                  <a:t> chiều. Mô hình bao gồm </a:t>
                </a:r>
                <a:r>
                  <a:rPr lang="vi-VN" sz="1200" i="0" kern="1200">
                    <a:solidFill>
                      <a:schemeClr val="tx1"/>
                    </a:solidFill>
                    <a:effectLst/>
                    <a:latin typeface="+mn-lt"/>
                    <a:ea typeface="+mn-ea"/>
                    <a:cs typeface="+mn-cs"/>
                  </a:rPr>
                  <a:t>2</a:t>
                </a:r>
                <a:r>
                  <a:rPr lang="vi-VN" sz="1200" kern="1200" dirty="0">
                    <a:solidFill>
                      <a:schemeClr val="tx1"/>
                    </a:solidFill>
                    <a:effectLst/>
                    <a:latin typeface="+mn-lt"/>
                    <a:ea typeface="+mn-ea"/>
                    <a:cs typeface="+mn-cs"/>
                  </a:rPr>
                  <a:t> lớp (layers) cho cả encoder và decoder. Để giảm hiện tượng overfitting, dropout được áp dụng với tỷ lệ </a:t>
                </a:r>
                <a:r>
                  <a:rPr lang="vi-VN" sz="1200" i="0" kern="1200">
                    <a:solidFill>
                      <a:schemeClr val="tx1"/>
                    </a:solidFill>
                    <a:effectLst/>
                    <a:latin typeface="+mn-lt"/>
                    <a:ea typeface="+mn-ea"/>
                    <a:cs typeface="+mn-cs"/>
                  </a:rPr>
                  <a:t>0.5</a:t>
                </a:r>
                <a:r>
                  <a:rPr lang="vi-VN" sz="1200" kern="1200" dirty="0">
                    <a:solidFill>
                      <a:schemeClr val="tx1"/>
                    </a:solidFill>
                    <a:effectLst/>
                    <a:latin typeface="+mn-lt"/>
                    <a:ea typeface="+mn-ea"/>
                    <a:cs typeface="+mn-cs"/>
                  </a:rPr>
                  <a:t> cho cả hai phía encoder và decoder.</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Quá trình tối ưu sử dụng learning rate </a:t>
                </a:r>
                <a:r>
                  <a:rPr lang="vi-VN" sz="1200" i="0" kern="1200">
                    <a:solidFill>
                      <a:schemeClr val="tx1"/>
                    </a:solidFill>
                    <a:effectLst/>
                    <a:latin typeface="+mn-lt"/>
                    <a:ea typeface="+mn-ea"/>
                    <a:cs typeface="+mn-cs"/>
                  </a:rPr>
                  <a:t>0.001</a:t>
                </a:r>
                <a:r>
                  <a:rPr lang="vi-VN" sz="1200" kern="1200" dirty="0">
                    <a:solidFill>
                      <a:schemeClr val="tx1"/>
                    </a:solidFill>
                    <a:effectLst/>
                    <a:latin typeface="+mn-lt"/>
                    <a:ea typeface="+mn-ea"/>
                    <a:cs typeface="+mn-cs"/>
                  </a:rPr>
                  <a:t>, với tổng số </a:t>
                </a:r>
                <a:r>
                  <a:rPr lang="vi-VN" sz="1200" i="0" kern="1200">
                    <a:solidFill>
                      <a:schemeClr val="tx1"/>
                    </a:solidFill>
                    <a:effectLst/>
                    <a:latin typeface="+mn-lt"/>
                    <a:ea typeface="+mn-ea"/>
                    <a:cs typeface="+mn-cs"/>
                  </a:rPr>
                  <a:t>11</a:t>
                </a:r>
                <a:r>
                  <a:rPr lang="vi-VN" sz="1200" kern="1200" dirty="0">
                    <a:solidFill>
                      <a:schemeClr val="tx1"/>
                    </a:solidFill>
                    <a:effectLst/>
                    <a:latin typeface="+mn-lt"/>
                    <a:ea typeface="+mn-ea"/>
                    <a:cs typeface="+mn-cs"/>
                  </a:rPr>
                  <a:t> epochs huấn luyện. Ngoài ra, gradient clipping với giá trị </a:t>
                </a:r>
                <a:r>
                  <a:rPr lang="vi-VN" sz="1200" i="0" kern="1200">
                    <a:solidFill>
                      <a:schemeClr val="tx1"/>
                    </a:solidFill>
                    <a:effectLst/>
                    <a:latin typeface="+mn-lt"/>
                    <a:ea typeface="+mn-ea"/>
                    <a:cs typeface="+mn-cs"/>
                  </a:rPr>
                  <a:t>1.0</a:t>
                </a:r>
                <a:r>
                  <a:rPr lang="vi-VN" sz="1200" kern="1200" dirty="0">
                    <a:solidFill>
                      <a:schemeClr val="tx1"/>
                    </a:solidFill>
                    <a:effectLst/>
                    <a:latin typeface="+mn-lt"/>
                    <a:ea typeface="+mn-ea"/>
                    <a:cs typeface="+mn-cs"/>
                  </a:rPr>
                  <a:t> được áp dụng nhằm ổn định quá trình lan truyền ngược. Trong quá trình huấn luyện, kỹ thuật teacher forcing được sử dụng với tỷ lệ </a:t>
                </a:r>
                <a:r>
                  <a:rPr lang="vi-VN" sz="1200" i="0" kern="1200">
                    <a:solidFill>
                      <a:schemeClr val="tx1"/>
                    </a:solidFill>
                    <a:effectLst/>
                    <a:latin typeface="+mn-lt"/>
                    <a:ea typeface="+mn-ea"/>
                    <a:cs typeface="+mn-cs"/>
                  </a:rPr>
                  <a:t>0.5</a:t>
                </a:r>
                <a:r>
                  <a:rPr lang="vi-VN" sz="1200" kern="1200" dirty="0">
                    <a:solidFill>
                      <a:schemeClr val="tx1"/>
                    </a:solidFill>
                    <a:effectLst/>
                    <a:latin typeface="+mn-lt"/>
                    <a:ea typeface="+mn-ea"/>
                    <a:cs typeface="+mn-cs"/>
                  </a:rPr>
                  <a:t> để cải thiện khả năng hội tụ của mô hình.</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a:t>
                </a:r>
                <a:r>
                  <a:rPr lang="vi-VN" sz="1200" i="0" kern="1200">
                    <a:solidFill>
                      <a:schemeClr val="tx1"/>
                    </a:solidFill>
                    <a:effectLst/>
                    <a:latin typeface="+mn-lt"/>
                    <a:ea typeface="+mn-ea"/>
                    <a:cs typeface="+mn-cs"/>
                  </a:rPr>
                  <a:t>0378</a:t>
                </a:r>
                <a:endParaRPr lang="en-US" sz="1200" kern="1200" dirty="0">
                  <a:solidFill>
                    <a:schemeClr val="tx1"/>
                  </a:solidFill>
                  <a:effectLst/>
                  <a:latin typeface="+mn-lt"/>
                  <a:ea typeface="+mn-ea"/>
                  <a:cs typeface="+mn-cs"/>
                </a:endParaRPr>
              </a:p>
            </p:txBody>
          </p:sp>
        </mc:Fallback>
      </mc:AlternateContent>
      <p:sp>
        <p:nvSpPr>
          <p:cNvPr id="4" name="Slide Number Placeholder 3">
            <a:extLst>
              <a:ext uri="{FF2B5EF4-FFF2-40B4-BE49-F238E27FC236}">
                <a16:creationId xmlns:a16="http://schemas.microsoft.com/office/drawing/2014/main" id="{23BA2642-59EF-0201-31A5-C1055B59AD44}"/>
              </a:ext>
            </a:extLst>
          </p:cNvPr>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13376196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601A6-2650-BBB0-2A98-07A57EA9F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EE7A31-810B-36AF-4676-6526FF810ACA}"/>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71A04416-7F5E-89C1-5CB4-F3268C5E5048}"/>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Mô hình Transformer trong kịch bản thử nghiệm thứ 1 được xây dựng với các tham số như sau:</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Ngôn ngữ nguồn được xử lý bằng tokenizer en_core_web_sm, trong khi ngôn ngữ đích sử dụng vi_core_news_lg từ thư viện spaCy nhằm phục vụ quá trình tách từ và tiền xử lý văn bản.</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Độ dài tối đa của câu được giới hạn ở 160 token, giúp kiểm soát chi phí tính toán và tránh các chuỗi quá dài trong quá trình huấn luyện. Dữ liệu được chia theo batch với kích thước 1500 token, và toàn bộ quá trình huấn luyện được thực hiện trên GPU (CUDA) để tăng tốc độ xử lý.</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Về kiến trúc mô hình, Transformer sử dụng vector embedding với kích thước d_model = 512, gồm 6 lớp (layers) và 8 attention heads. Tỷ lệ dropout được thiết lập ở mức 0.1 nhằm giảm hiện tượng overfitting và cải thiện khả năng tổng quát hóa của mô hình.</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Quá trình tối ưu sử dụng learning rate 0.0001 với tổng số 12 epochs huấn luyện. Trong giai đoạn suy luận, phương pháp beam search được áp dụng với beam size k = 5, giúp mô hình xem xét nhiều phương án đầu ra đồng thời và cải thiện chất lượng bản dịch.</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0.1128</a:t>
            </a:r>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AA7D0F15-4261-580A-1820-74272BB9B54C}"/>
              </a:ext>
            </a:extLst>
          </p:cNvPr>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3562584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0664A-366F-9D0B-D3B8-AC0B2AF4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58B47-0F7A-216F-31E1-F33C4573F4C8}"/>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2A1056AB-D334-3FA3-FA2D-F15915D3CE73}"/>
              </a:ext>
            </a:extLst>
          </p:cNvPr>
          <p:cNvSpPr>
            <a:spLocks noGrp="1"/>
          </p:cNvSpPr>
          <p:nvPr>
            <p:ph type="body" idx="1"/>
          </p:nvPr>
        </p:nvSpPr>
        <p:spPr/>
        <p:txBody>
          <a:bodyPr/>
          <a:lstStyle/>
          <a:p>
            <a:r>
              <a:rPr lang="vi-VN" sz="1200" kern="1200" dirty="0">
                <a:solidFill>
                  <a:schemeClr val="tx1"/>
                </a:solidFill>
                <a:effectLst/>
                <a:latin typeface="+mn-lt"/>
                <a:ea typeface="+mn-ea"/>
                <a:cs typeface="+mn-cs"/>
              </a:rPr>
              <a:t>Sử dụng mô hình transformer với các tham số như sau:</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Ngôn ngữ nguồn được xử lý bằng tokenizer en_core_web_sm, trong khi ngôn ngữ đích sử dụng tokenizer vi_core_news_lg từ thư viện spaCy nhằm thực hiện tách từ và tiền xử lý văn bản.</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Độ dài tối đa của câu được giới hạn ở 160 token, nhằm kiểm soát chi phí tính toán và tránh xử lý các chuỗi quá dài. Dữ liệu được chia theo batch với kích thước 1500 token, và toàn bộ quá trình huấn luyện được thực hiện trên GPU (CUDA) để tăng tốc độ xử lý.</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Về kiến trúc mô hình, Transformer sử dụng vector embedding với kích thước d_model = 512, gồm 8 lớp Encoder–Decoder (n_layers = 8) và 8 attention heads. Tỷ lệ dropout được thiết lập là 0.1 nhằm giảm hiện tượng overfitting và tăng khả năng tổng quát hóa của mô hình.</a:t>
            </a:r>
            <a:endParaRPr lang="en-US"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vi-VN" sz="1200" kern="1200" dirty="0">
                <a:solidFill>
                  <a:schemeClr val="tx1"/>
                </a:solidFill>
                <a:effectLst/>
                <a:latin typeface="+mn-lt"/>
                <a:ea typeface="+mn-ea"/>
                <a:cs typeface="+mn-cs"/>
              </a:rPr>
              <a:t>Quá trình huấn luyện sử dụng learning rate 0.0001 với tổng số 12 epochs. Trong giai đoạn suy luận, phương pháp beam search được áp dụng với beam size k = 5, giúp mô hình xem xét nhiều phương án đầu ra và cải thiện chất lượng bản dịch.</a:t>
            </a:r>
            <a:endParaRPr lang="en-US" sz="1200" kern="1200" dirty="0">
              <a:solidFill>
                <a:schemeClr val="tx1"/>
              </a:solidFill>
              <a:effectLst/>
              <a:latin typeface="+mn-lt"/>
              <a:ea typeface="+mn-ea"/>
              <a:cs typeface="+mn-cs"/>
            </a:endParaRPr>
          </a:p>
          <a:p>
            <a:pPr marL="0" indent="0">
              <a:buFont typeface="Arial" panose="020B0604020202020204" pitchFamily="34" charset="0"/>
              <a:buNone/>
            </a:pP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Kết quả thử nghiệm: BLEU trên tập Test = 0.1092</a:t>
            </a:r>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B454FA2D-9E16-EECD-23DC-468E87C59F3D}"/>
              </a:ext>
            </a:extLst>
          </p:cNvPr>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12899504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895C4-09A2-D560-B7D5-624774FD07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34F8F4-66CA-C40D-AD71-A201957F7F29}"/>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466B3391-7E3E-872A-BAE0-0E7727DFC09A}"/>
              </a:ext>
            </a:extLst>
          </p:cNvPr>
          <p:cNvSpPr>
            <a:spLocks noGrp="1"/>
          </p:cNvSpPr>
          <p:nvPr>
            <p:ph type="body" idx="1"/>
          </p:nvPr>
        </p:nvSpPr>
        <p:spPr/>
        <p:txBody>
          <a:bodyPr/>
          <a:lstStyle/>
          <a:p>
            <a:pPr marL="171450" indent="-171450">
              <a:buFont typeface="Arial" panose="020B0604020202020204" pitchFamily="34" charset="0"/>
              <a:buChar char="•"/>
            </a:pPr>
            <a:endParaRPr lang="vi-VN" dirty="0"/>
          </a:p>
        </p:txBody>
      </p:sp>
      <p:sp>
        <p:nvSpPr>
          <p:cNvPr id="4" name="Slide Number Placeholder 3">
            <a:extLst>
              <a:ext uri="{FF2B5EF4-FFF2-40B4-BE49-F238E27FC236}">
                <a16:creationId xmlns:a16="http://schemas.microsoft.com/office/drawing/2014/main" id="{A87FE937-4B3C-6FE1-5DC0-7DDFCBB61244}"/>
              </a:ext>
            </a:extLst>
          </p:cNvPr>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26068869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F9FC0-413F-86E3-1680-CF74FBC966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9AD1EA-E9F5-8DCA-FA96-3778AA9CAA14}"/>
              </a:ext>
            </a:extLst>
          </p:cNvPr>
          <p:cNvSpPr>
            <a:spLocks noGrp="1" noRot="1" noChangeAspect="1"/>
          </p:cNvSpPr>
          <p:nvPr>
            <p:ph type="sldImg"/>
          </p:nvPr>
        </p:nvSpPr>
        <p:spPr>
          <a:xfrm>
            <a:off x="2292350" y="512763"/>
            <a:ext cx="4559300" cy="2566987"/>
          </a:xfrm>
        </p:spPr>
      </p:sp>
      <p:sp>
        <p:nvSpPr>
          <p:cNvPr id="3" name="Notes Placeholder 2">
            <a:extLst>
              <a:ext uri="{FF2B5EF4-FFF2-40B4-BE49-F238E27FC236}">
                <a16:creationId xmlns:a16="http://schemas.microsoft.com/office/drawing/2014/main" id="{F3BC635C-B57B-3F8B-9892-557D8AFE551A}"/>
              </a:ext>
            </a:extLst>
          </p:cNvPr>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A335E6D-7722-A59E-27FF-BE0C7CBCAB99}"/>
              </a:ext>
            </a:extLst>
          </p:cNvPr>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37848747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15" y="-6067"/>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3"/>
              <a:stretch>
                <a:fillRect/>
              </a:stretch>
            </a:blipFill>
          </p:spPr>
        </p:sp>
      </p:grpSp>
      <p:grpSp>
        <p:nvGrpSpPr>
          <p:cNvPr id="4" name="Group 4"/>
          <p:cNvGrpSpPr/>
          <p:nvPr/>
        </p:nvGrpSpPr>
        <p:grpSpPr>
          <a:xfrm>
            <a:off x="370494" y="294589"/>
            <a:ext cx="1870358" cy="386620"/>
            <a:chOff x="0" y="0"/>
            <a:chExt cx="2493810" cy="515493"/>
          </a:xfrm>
        </p:grpSpPr>
        <p:sp>
          <p:nvSpPr>
            <p:cNvPr id="5" name="Freeform 5"/>
            <p:cNvSpPr/>
            <p:nvPr/>
          </p:nvSpPr>
          <p:spPr>
            <a:xfrm>
              <a:off x="0" y="0"/>
              <a:ext cx="2493772" cy="515493"/>
            </a:xfrm>
            <a:custGeom>
              <a:avLst/>
              <a:gdLst/>
              <a:ahLst/>
              <a:cxnLst/>
              <a:rect l="l" t="t" r="r" b="b"/>
              <a:pathLst>
                <a:path w="2493772" h="515493">
                  <a:moveTo>
                    <a:pt x="0" y="0"/>
                  </a:moveTo>
                  <a:lnTo>
                    <a:pt x="2493772" y="0"/>
                  </a:lnTo>
                  <a:lnTo>
                    <a:pt x="2493772" y="515493"/>
                  </a:lnTo>
                  <a:lnTo>
                    <a:pt x="0" y="515493"/>
                  </a:lnTo>
                  <a:lnTo>
                    <a:pt x="0" y="0"/>
                  </a:lnTo>
                  <a:close/>
                </a:path>
              </a:pathLst>
            </a:custGeom>
            <a:blipFill>
              <a:blip r:embed="rId4"/>
              <a:stretch>
                <a:fillRect r="-1"/>
              </a:stretch>
            </a:blipFill>
          </p:spPr>
        </p:sp>
      </p:grpSp>
      <p:sp>
        <p:nvSpPr>
          <p:cNvPr id="6" name="TextBox 6"/>
          <p:cNvSpPr txBox="1"/>
          <p:nvPr/>
        </p:nvSpPr>
        <p:spPr>
          <a:xfrm>
            <a:off x="400935" y="810704"/>
            <a:ext cx="4944351" cy="1054199"/>
          </a:xfrm>
          <a:prstGeom prst="rect">
            <a:avLst/>
          </a:prstGeom>
        </p:spPr>
        <p:txBody>
          <a:bodyPr lIns="0" tIns="0" rIns="0" bIns="0" rtlCol="0" anchor="t">
            <a:spAutoFit/>
          </a:bodyPr>
          <a:lstStyle/>
          <a:p>
            <a:pPr algn="ctr">
              <a:lnSpc>
                <a:spcPts val="2099"/>
              </a:lnSpc>
            </a:pP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Bài Tập Cuối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Khoá</a:t>
            </a:r>
            <a:endPar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endParaRPr>
          </a:p>
          <a:p>
            <a:pPr algn="ctr">
              <a:lnSpc>
                <a:spcPts val="2099"/>
              </a:lnSpc>
            </a:pP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Học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phần</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Xử</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lý</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ngôn</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ngữ</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tự</a:t>
            </a:r>
            <a:r>
              <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 </a:t>
            </a:r>
            <a:r>
              <a:rPr lang="en-US" sz="1200" spc="-4" dirty="0" err="1">
                <a:solidFill>
                  <a:srgbClr val="F3F6F9"/>
                </a:solidFill>
                <a:latin typeface="Tahoma" panose="020B0604030504040204" pitchFamily="34" charset="0"/>
                <a:ea typeface="Tahoma" panose="020B0604030504040204" pitchFamily="34" charset="0"/>
                <a:cs typeface="Tahoma" panose="020B0604030504040204" pitchFamily="34" charset="0"/>
                <a:sym typeface="Montserrat"/>
              </a:rPr>
              <a:t>nhiên</a:t>
            </a:r>
            <a:endParaRPr lang="en-US" sz="1200"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a:endParaRPr>
          </a:p>
          <a:p>
            <a:pPr algn="ctr">
              <a:lnSpc>
                <a:spcPts val="2099"/>
              </a:lnSpc>
            </a:pPr>
            <a:r>
              <a:rPr lang="en-US" sz="1600" b="1"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Bold"/>
              </a:rPr>
              <a:t>English Vietnamese Translation  </a:t>
            </a:r>
          </a:p>
          <a:p>
            <a:pPr algn="ctr">
              <a:lnSpc>
                <a:spcPts val="2099"/>
              </a:lnSpc>
            </a:pPr>
            <a:r>
              <a:rPr lang="en-US" sz="1600" b="1" spc="-4" dirty="0">
                <a:solidFill>
                  <a:srgbClr val="F3F6F9"/>
                </a:solidFill>
                <a:latin typeface="Tahoma" panose="020B0604030504040204" pitchFamily="34" charset="0"/>
                <a:ea typeface="Tahoma" panose="020B0604030504040204" pitchFamily="34" charset="0"/>
                <a:cs typeface="Tahoma" panose="020B0604030504040204" pitchFamily="34" charset="0"/>
                <a:sym typeface="Montserrat Bold"/>
              </a:rPr>
              <a:t>Using Transformer Based Model</a:t>
            </a:r>
          </a:p>
        </p:txBody>
      </p:sp>
      <p:sp>
        <p:nvSpPr>
          <p:cNvPr id="7" name="TextBox 7"/>
          <p:cNvSpPr txBox="1"/>
          <p:nvPr/>
        </p:nvSpPr>
        <p:spPr>
          <a:xfrm>
            <a:off x="1657350" y="2094429"/>
            <a:ext cx="3750837" cy="607410"/>
          </a:xfrm>
          <a:prstGeom prst="rect">
            <a:avLst/>
          </a:prstGeom>
        </p:spPr>
        <p:txBody>
          <a:bodyPr lIns="0" tIns="0" rIns="0" bIns="0" rtlCol="0" anchor="t">
            <a:spAutoFit/>
          </a:bodyPr>
          <a:lstStyle/>
          <a:p>
            <a:pPr algn="l">
              <a:lnSpc>
                <a:spcPts val="1241"/>
              </a:lnSpc>
            </a:pP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Giảng</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viên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hướng</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dẫn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TS. Nguyễn Xuân Đức</a:t>
            </a:r>
          </a:p>
          <a:p>
            <a:pPr algn="l">
              <a:lnSpc>
                <a:spcPts val="1241"/>
              </a:lnSpc>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Học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viên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thực</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r>
              <a:rPr lang="en-US" sz="900" spc="-2"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hiện</a:t>
            </a: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  </a:t>
            </a:r>
          </a:p>
          <a:p>
            <a:pPr marL="1360170" lvl="7" indent="-170021" algn="l">
              <a:lnSpc>
                <a:spcPts val="1241"/>
              </a:lnSpc>
              <a:buAutoNum type="arabicPeriod"/>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LÊ VĂN MẠNH - B25CHKH074</a:t>
            </a:r>
          </a:p>
          <a:p>
            <a:pPr marL="1360170" lvl="7" indent="-170021" algn="l">
              <a:lnSpc>
                <a:spcPts val="1241"/>
              </a:lnSpc>
              <a:buAutoNum type="arabicPeriod"/>
            </a:pPr>
            <a:r>
              <a:rPr lang="en-US" sz="900"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NGUYỄN QUANG HOÀN - B25CHKH066</a:t>
            </a:r>
          </a:p>
        </p:txBody>
      </p:sp>
      <p:sp>
        <p:nvSpPr>
          <p:cNvPr id="8" name="TextBox 8"/>
          <p:cNvSpPr txBox="1"/>
          <p:nvPr/>
        </p:nvSpPr>
        <p:spPr>
          <a:xfrm>
            <a:off x="3923840" y="2842787"/>
            <a:ext cx="629110" cy="115031"/>
          </a:xfrm>
          <a:prstGeom prst="rect">
            <a:avLst/>
          </a:prstGeom>
        </p:spPr>
        <p:txBody>
          <a:bodyPr wrap="square" lIns="0" tIns="0" rIns="0" bIns="0" rtlCol="0" anchor="t">
            <a:spAutoFit/>
          </a:bodyPr>
          <a:lstStyle/>
          <a:p>
            <a:pPr algn="l">
              <a:lnSpc>
                <a:spcPts val="1004"/>
              </a:lnSpc>
            </a:pPr>
            <a:r>
              <a:rPr lang="en-US" sz="717" spc="-2"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a:rPr>
              <a:t>26/04/2026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F"/>
        </a:solidFill>
        <a:effectLst/>
      </p:bgPr>
    </p:bg>
    <p:spTree>
      <p:nvGrpSpPr>
        <p:cNvPr id="1" name=""/>
        <p:cNvGrpSpPr/>
        <p:nvPr/>
      </p:nvGrpSpPr>
      <p:grpSpPr>
        <a:xfrm>
          <a:off x="0" y="0"/>
          <a:ext cx="0" cy="0"/>
          <a:chOff x="0" y="0"/>
          <a:chExt cx="0" cy="0"/>
        </a:xfrm>
      </p:grpSpPr>
      <p:sp>
        <p:nvSpPr>
          <p:cNvPr id="2" name="TextBox 2"/>
          <p:cNvSpPr txBox="1"/>
          <p:nvPr/>
        </p:nvSpPr>
        <p:spPr>
          <a:xfrm>
            <a:off x="323849" y="182553"/>
            <a:ext cx="1562101" cy="332848"/>
          </a:xfrm>
          <a:prstGeom prst="rect">
            <a:avLst/>
          </a:prstGeom>
        </p:spPr>
        <p:txBody>
          <a:bodyPr wrap="square" lIns="0" tIns="0" rIns="0" bIns="0" rtlCol="0" anchor="t">
            <a:spAutoFit/>
          </a:bodyPr>
          <a:lstStyle/>
          <a:p>
            <a:pPr algn="l">
              <a:lnSpc>
                <a:spcPts val="2869"/>
              </a:lnSpc>
            </a:pPr>
            <a:r>
              <a:rPr lang="en-US" sz="2049"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Nội</a:t>
            </a:r>
            <a:r>
              <a:rPr lang="en-US" sz="2049"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dung</a:t>
            </a:r>
          </a:p>
        </p:txBody>
      </p:sp>
      <p:sp>
        <p:nvSpPr>
          <p:cNvPr id="3" name="TextBox 3"/>
          <p:cNvSpPr txBox="1"/>
          <p:nvPr/>
        </p:nvSpPr>
        <p:spPr>
          <a:xfrm>
            <a:off x="349411" y="731635"/>
            <a:ext cx="3227945" cy="1736437"/>
          </a:xfrm>
          <a:prstGeom prst="rect">
            <a:avLst/>
          </a:prstGeom>
        </p:spPr>
        <p:txBody>
          <a:bodyPr wrap="square" lIns="0" tIns="0" rIns="0" bIns="0" rtlCol="0" anchor="t">
            <a:spAutoFit/>
          </a:bodyPr>
          <a:lstStyle/>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thiệu</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Phương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a:p>
            <a:pPr marL="228600" indent="-228600" algn="l">
              <a:lnSpc>
                <a:spcPts val="2304"/>
              </a:lnSpc>
              <a:buAutoNum type="arabicPeriod"/>
            </a:pP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200" b="1"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1200" b="1"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6" name="TextBox 5">
            <a:extLst>
              <a:ext uri="{FF2B5EF4-FFF2-40B4-BE49-F238E27FC236}">
                <a16:creationId xmlns:a16="http://schemas.microsoft.com/office/drawing/2014/main" id="{1A3B45B4-54EB-D63C-8B42-A98CADA42C8D}"/>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915" y="0"/>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txBody>
            <a:bodyPr/>
            <a:lstStyle/>
            <a:p>
              <a:endParaRPr lang="en-US" dirty="0"/>
            </a:p>
          </p:txBody>
        </p:sp>
      </p:grpSp>
      <p:grpSp>
        <p:nvGrpSpPr>
          <p:cNvPr id="4" name="Group 4"/>
          <p:cNvGrpSpPr/>
          <p:nvPr/>
        </p:nvGrpSpPr>
        <p:grpSpPr>
          <a:xfrm>
            <a:off x="323849" y="1931844"/>
            <a:ext cx="5219700" cy="25403"/>
            <a:chOff x="0" y="0"/>
            <a:chExt cx="6959600" cy="33871"/>
          </a:xfrm>
        </p:grpSpPr>
        <p:sp>
          <p:nvSpPr>
            <p:cNvPr id="5" name="Freeform 5"/>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1.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thiệu</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74EDBDC2-A603-6DD2-E726-A846171FE3BD}"/>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81D5B5F7-D29E-3CEE-BE95-73A68B4B75C9}"/>
              </a:ext>
            </a:extLst>
          </p:cNvPr>
          <p:cNvGrpSpPr/>
          <p:nvPr/>
        </p:nvGrpSpPr>
        <p:grpSpPr>
          <a:xfrm>
            <a:off x="3897696" y="628650"/>
            <a:ext cx="1578312" cy="1559838"/>
            <a:chOff x="3467343" y="1440031"/>
            <a:chExt cx="1407120" cy="1390650"/>
          </a:xfrm>
        </p:grpSpPr>
        <p:pic>
          <p:nvPicPr>
            <p:cNvPr id="14" name="Picture 13">
              <a:extLst>
                <a:ext uri="{FF2B5EF4-FFF2-40B4-BE49-F238E27FC236}">
                  <a16:creationId xmlns:a16="http://schemas.microsoft.com/office/drawing/2014/main" id="{CECCE259-249D-0C35-261C-2890711D2DA6}"/>
                </a:ext>
              </a:extLst>
            </p:cNvPr>
            <p:cNvPicPr>
              <a:picLocks noChangeAspect="1"/>
            </p:cNvPicPr>
            <p:nvPr/>
          </p:nvPicPr>
          <p:blipFill>
            <a:blip r:embed="rId2"/>
            <a:stretch>
              <a:fillRect/>
            </a:stretch>
          </p:blipFill>
          <p:spPr>
            <a:xfrm>
              <a:off x="3486150" y="1440031"/>
              <a:ext cx="1388313" cy="1390650"/>
            </a:xfrm>
            <a:prstGeom prst="rect">
              <a:avLst/>
            </a:prstGeom>
          </p:spPr>
        </p:pic>
        <p:sp>
          <p:nvSpPr>
            <p:cNvPr id="15" name="Arrow: Curved Down 14">
              <a:extLst>
                <a:ext uri="{FF2B5EF4-FFF2-40B4-BE49-F238E27FC236}">
                  <a16:creationId xmlns:a16="http://schemas.microsoft.com/office/drawing/2014/main" id="{2F64409B-ECA5-280B-F552-E712F15E3970}"/>
                </a:ext>
              </a:extLst>
            </p:cNvPr>
            <p:cNvSpPr/>
            <p:nvPr/>
          </p:nvSpPr>
          <p:spPr>
            <a:xfrm rot="6916398" flipV="1">
              <a:off x="3279233" y="1842636"/>
              <a:ext cx="697943" cy="321724"/>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 name="TextBox 2"/>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1.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Giới</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thiệu</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đề</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tài</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8490BFEA-3E0E-B11C-AFDC-F80A348B1838}"/>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3</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96867702-8161-7F10-4877-524B422A20C7}"/>
              </a:ext>
            </a:extLst>
          </p:cNvPr>
          <p:cNvSpPr txBox="1"/>
          <p:nvPr/>
        </p:nvSpPr>
        <p:spPr>
          <a:xfrm>
            <a:off x="277092" y="524496"/>
            <a:ext cx="3437658" cy="1933863"/>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Bài toán English</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Vietnamese Machine Translation là bài toán chuyển đổi tự động một câu hoặc đoạn văn từ ngôn ngữ nguồn (tiếng Anh) sang ngôn ngữ đích (tiếng Việt), sao cho nội dung được bảo toàn và cách diễn đạt phù hợp với ngữ pháp của ngôn ngữ đích.</a:t>
            </a:r>
            <a:r>
              <a:rPr lang="en-US" sz="900" dirty="0">
                <a:latin typeface="Tahoma" panose="020B0604030504040204" pitchFamily="34" charset="0"/>
                <a:ea typeface="Tahoma" panose="020B0604030504040204" pitchFamily="34" charset="0"/>
                <a:cs typeface="Tahoma" panose="020B0604030504040204" pitchFamily="34" charset="0"/>
              </a:rPr>
              <a:t> </a:t>
            </a:r>
          </a:p>
          <a:p>
            <a:pPr marL="401638" indent="-171450" algn="just">
              <a:lnSpc>
                <a:spcPct val="150000"/>
              </a:lnSpc>
              <a:buFont typeface="Arial" panose="020B0604020202020204" pitchFamily="34" charset="0"/>
              <a:buChar char="•"/>
            </a:pPr>
            <a:r>
              <a:rPr lang="en-US" sz="900" dirty="0" err="1">
                <a:latin typeface="Tahoma" panose="020B0604030504040204" pitchFamily="34" charset="0"/>
                <a:ea typeface="Tahoma" panose="020B0604030504040204" pitchFamily="34" charset="0"/>
                <a:cs typeface="Tahoma" panose="020B0604030504040204" pitchFamily="34" charset="0"/>
              </a:rPr>
              <a:t>Đầu</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vào</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chuỗi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bằng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tiếng</a:t>
            </a:r>
            <a:r>
              <a:rPr lang="en-US" sz="900" dirty="0">
                <a:latin typeface="Tahoma" panose="020B0604030504040204" pitchFamily="34" charset="0"/>
                <a:ea typeface="Tahoma" panose="020B0604030504040204" pitchFamily="34" charset="0"/>
                <a:cs typeface="Tahoma" panose="020B0604030504040204" pitchFamily="34" charset="0"/>
              </a:rPr>
              <a:t> Anh</a:t>
            </a:r>
          </a:p>
          <a:p>
            <a:pPr marL="401638" indent="-171450" algn="just">
              <a:lnSpc>
                <a:spcPct val="150000"/>
              </a:lnSpc>
              <a:buFont typeface="Arial" panose="020B0604020202020204" pitchFamily="34" charset="0"/>
              <a:buChar char="•"/>
            </a:pPr>
            <a:r>
              <a:rPr lang="en-US" sz="900" dirty="0" err="1">
                <a:latin typeface="Tahoma" panose="020B0604030504040204" pitchFamily="34" charset="0"/>
                <a:ea typeface="Tahoma" panose="020B0604030504040204" pitchFamily="34" charset="0"/>
                <a:cs typeface="Tahoma" panose="020B0604030504040204" pitchFamily="34" charset="0"/>
              </a:rPr>
              <a:t>Đầu</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ra</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chuỗi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bằng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tiếng</a:t>
            </a:r>
            <a:r>
              <a:rPr lang="en-US" sz="900" dirty="0">
                <a:latin typeface="Tahoma" panose="020B0604030504040204" pitchFamily="34" charset="0"/>
                <a:ea typeface="Tahoma" panose="020B0604030504040204" pitchFamily="34" charset="0"/>
                <a:cs typeface="Tahoma" panose="020B0604030504040204" pitchFamily="34" charset="0"/>
              </a:rPr>
              <a:t> Việt </a:t>
            </a:r>
            <a:r>
              <a:rPr lang="en-US" sz="900" dirty="0" err="1">
                <a:latin typeface="Tahoma" panose="020B0604030504040204" pitchFamily="34" charset="0"/>
                <a:ea typeface="Tahoma" panose="020B0604030504040204" pitchFamily="34" charset="0"/>
                <a:cs typeface="Tahoma" panose="020B0604030504040204" pitchFamily="34" charset="0"/>
              </a:rPr>
              <a:t>với</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nội</a:t>
            </a:r>
            <a:r>
              <a:rPr lang="en-US" sz="900" dirty="0">
                <a:latin typeface="Tahoma" panose="020B0604030504040204" pitchFamily="34" charset="0"/>
                <a:ea typeface="Tahoma" panose="020B0604030504040204" pitchFamily="34" charset="0"/>
                <a:cs typeface="Tahoma" panose="020B0604030504040204" pitchFamily="34" charset="0"/>
              </a:rPr>
              <a:t> dung </a:t>
            </a:r>
            <a:r>
              <a:rPr lang="en-US" sz="900" dirty="0" err="1">
                <a:latin typeface="Tahoma" panose="020B0604030504040204" pitchFamily="34" charset="0"/>
                <a:ea typeface="Tahoma" panose="020B0604030504040204" pitchFamily="34" charset="0"/>
                <a:cs typeface="Tahoma" panose="020B0604030504040204" pitchFamily="34" charset="0"/>
              </a:rPr>
              <a:t>tương</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ứng</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Mục</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tiêu</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xây dựng một mô hình </a:t>
            </a:r>
            <a:r>
              <a:rPr lang="en-US" sz="900" dirty="0">
                <a:latin typeface="Tahoma" panose="020B0604030504040204" pitchFamily="34" charset="0"/>
                <a:ea typeface="Tahoma" panose="020B0604030504040204" pitchFamily="34" charset="0"/>
                <a:cs typeface="Tahoma" panose="020B0604030504040204" pitchFamily="34" charset="0"/>
              </a:rPr>
              <a:t>/</a:t>
            </a:r>
            <a:r>
              <a:rPr lang="vi-VN" sz="900" dirty="0">
                <a:latin typeface="Tahoma" panose="020B0604030504040204" pitchFamily="34" charset="0"/>
                <a:ea typeface="Tahoma" panose="020B0604030504040204" pitchFamily="34" charset="0"/>
                <a:cs typeface="Tahoma" panose="020B0604030504040204" pitchFamily="34" charset="0"/>
              </a:rPr>
              <a:t> phương pháp có khả năng học được mối quan hệ giữa hai ngôn ngữ</a:t>
            </a:r>
            <a:r>
              <a:rPr lang="en-US" sz="900" dirty="0">
                <a:latin typeface="Tahoma" panose="020B0604030504040204" pitchFamily="34" charset="0"/>
                <a:ea typeface="Tahoma" panose="020B0604030504040204" pitchFamily="34" charset="0"/>
                <a:cs typeface="Tahoma" panose="020B0604030504040204" pitchFamily="34" charset="0"/>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04EC4-D32A-9758-E082-2C7629A39B9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950E64E-1999-3DBE-0968-49DCA62FADF0}"/>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97FEFDA5-2085-9059-2152-21E2BAAC0E6D}"/>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D4648252-C1C1-1EA5-16E7-5A8396BDC370}"/>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C7C8F984-1389-0D02-8523-EEC4147CCC9C}"/>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91233F94-C7A6-85A2-6A5D-120202021890}"/>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B432C683-EB65-2B53-0F18-95072DC8945E}"/>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16675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CB550-9B13-1921-918C-094D58CFB26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35724BA9-1DD4-B8D2-C77B-F73360CD25F2}"/>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166F35DD-4946-FC5B-24DA-5C4EFB1FD4E5}"/>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10134E2B-7DA3-8F14-B3D7-1EF4B98F7017}"/>
              </a:ext>
            </a:extLst>
          </p:cNvPr>
          <p:cNvSpPr txBox="1"/>
          <p:nvPr/>
        </p:nvSpPr>
        <p:spPr>
          <a:xfrm>
            <a:off x="277092" y="519301"/>
            <a:ext cx="5190258" cy="1102866"/>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Dữ liệu được sử dụng trong tiểu luận là IWSLT’15 English–Vietnamese (EN–VI), được giới thiệu trong hệ thống dịch máy tham gia cuộc thi IWSLT 2015. </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Train: 133317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Validation (Dev): 1,553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a:p>
            <a:pPr marL="285750" indent="227013" algn="just" defTabSz="628650">
              <a:lnSpc>
                <a:spcPct val="150000"/>
              </a:lnSpc>
              <a:tabLst>
                <a:tab pos="687388" algn="l"/>
              </a:tabLst>
            </a:pPr>
            <a:r>
              <a:rPr lang="en-US" sz="900" dirty="0">
                <a:latin typeface="Tahoma" panose="020B0604030504040204" pitchFamily="34" charset="0"/>
                <a:ea typeface="Tahoma" panose="020B0604030504040204" pitchFamily="34" charset="0"/>
                <a:cs typeface="Tahoma" panose="020B0604030504040204" pitchFamily="34" charset="0"/>
              </a:rPr>
              <a:t>•	Test: 1,268 </a:t>
            </a:r>
            <a:r>
              <a:rPr lang="en-US" sz="900" dirty="0" err="1">
                <a:latin typeface="Tahoma" panose="020B0604030504040204" pitchFamily="34" charset="0"/>
                <a:ea typeface="Tahoma" panose="020B0604030504040204" pitchFamily="34" charset="0"/>
                <a:cs typeface="Tahoma" panose="020B0604030504040204" pitchFamily="34" charset="0"/>
              </a:rPr>
              <a:t>cặp</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câu</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AE666FD7-15A9-4450-C2CB-B04375EA98DA}"/>
              </a:ext>
            </a:extLst>
          </p:cNvPr>
          <p:cNvPicPr>
            <a:picLocks noChangeAspect="1"/>
          </p:cNvPicPr>
          <p:nvPr/>
        </p:nvPicPr>
        <p:blipFill>
          <a:blip r:embed="rId2"/>
          <a:stretch>
            <a:fillRect/>
          </a:stretch>
        </p:blipFill>
        <p:spPr>
          <a:xfrm>
            <a:off x="1007317" y="1745534"/>
            <a:ext cx="3729808" cy="1215141"/>
          </a:xfrm>
          <a:prstGeom prst="rect">
            <a:avLst/>
          </a:prstGeom>
        </p:spPr>
      </p:pic>
    </p:spTree>
    <p:extLst>
      <p:ext uri="{BB962C8B-B14F-4D97-AF65-F5344CB8AC3E}">
        <p14:creationId xmlns:p14="http://schemas.microsoft.com/office/powerpoint/2010/main" val="3048184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EC158-2544-F885-EDD7-F5095D335505}"/>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24584FF-893D-EA3C-1849-55BCC6C743FE}"/>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0E64B3C3-A5AF-BFA4-645E-AC907D31A032}"/>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D3AFBB33-3DB2-E86D-C89C-04C5033EA301}"/>
              </a:ext>
            </a:extLst>
          </p:cNvPr>
          <p:cNvSpPr txBox="1"/>
          <p:nvPr/>
        </p:nvSpPr>
        <p:spPr>
          <a:xfrm>
            <a:off x="277092" y="519301"/>
            <a:ext cx="5190258" cy="522644"/>
          </a:xfrm>
          <a:prstGeom prst="rect">
            <a:avLst/>
          </a:prstGeom>
          <a:noFill/>
        </p:spPr>
        <p:txBody>
          <a:bodyPr wrap="square" rtlCol="0">
            <a:spAutoFit/>
          </a:bodyPr>
          <a:lstStyle/>
          <a:p>
            <a:pPr algn="just">
              <a:lnSpc>
                <a:spcPct val="150000"/>
              </a:lnSpc>
            </a:pPr>
            <a:r>
              <a:rPr lang="vi-VN" sz="1000" dirty="0">
                <a:latin typeface="Tahoma" panose="020B0604030504040204" pitchFamily="34" charset="0"/>
                <a:ea typeface="Tahoma" panose="020B0604030504040204" pitchFamily="34" charset="0"/>
                <a:cs typeface="Tahoma" panose="020B0604030504040204" pitchFamily="34" charset="0"/>
              </a:rPr>
              <a:t>Các câu tiếng Anh có độ dài trung bình khoảng 20 từ, trong khi câu tiếng Việt dài hơn với trung bình khoảng 24 từ. </a:t>
            </a:r>
            <a:endParaRPr lang="en-US" sz="10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C615D624-5BA6-7951-5B01-ACCB5DF0B7F1}"/>
              </a:ext>
            </a:extLst>
          </p:cNvPr>
          <p:cNvPicPr>
            <a:picLocks noChangeAspect="1"/>
          </p:cNvPicPr>
          <p:nvPr/>
        </p:nvPicPr>
        <p:blipFill>
          <a:blip r:embed="rId2"/>
          <a:srcRect b="6289"/>
          <a:stretch>
            <a:fillRect/>
          </a:stretch>
        </p:blipFill>
        <p:spPr>
          <a:xfrm>
            <a:off x="457633" y="1017122"/>
            <a:ext cx="4829175" cy="1897528"/>
          </a:xfrm>
          <a:prstGeom prst="rect">
            <a:avLst/>
          </a:prstGeom>
        </p:spPr>
      </p:pic>
    </p:spTree>
    <p:extLst>
      <p:ext uri="{BB962C8B-B14F-4D97-AF65-F5344CB8AC3E}">
        <p14:creationId xmlns:p14="http://schemas.microsoft.com/office/powerpoint/2010/main" val="2217911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BA98C-2B18-E0D0-325A-B30144CA306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E990CC1-99DC-1C34-6062-9218788FA6B4}"/>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83B4C58D-C39F-4D7F-A486-511AC22DE1E2}"/>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7</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A793978E-54BC-7D8E-1117-DA263BE110D4}"/>
              </a:ext>
            </a:extLst>
          </p:cNvPr>
          <p:cNvSpPr txBox="1"/>
          <p:nvPr/>
        </p:nvSpPr>
        <p:spPr>
          <a:xfrm>
            <a:off x="277092" y="519301"/>
            <a:ext cx="2523258" cy="1726114"/>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Phân tích tỷ lệ số từ trong cặp câu tiếng Anh và tiếng Việt cho thấy rằng câu tiếng Việt thường dài hơn tiếng Anh trong cùng một nội dung do khác biệt về cấu trúc cú pháp và cách diễn đạt.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Phần lớn các cặp câu tập trung trong khoảng tỷ lệ ổn định (xấp xỉ 1.0 – 1.5).</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710BBCB2-2525-25FA-1F2D-66CCE1704971}"/>
              </a:ext>
            </a:extLst>
          </p:cNvPr>
          <p:cNvPicPr>
            <a:picLocks noChangeAspect="1"/>
          </p:cNvPicPr>
          <p:nvPr/>
        </p:nvPicPr>
        <p:blipFill>
          <a:blip r:embed="rId2"/>
          <a:srcRect b="10842"/>
          <a:stretch>
            <a:fillRect/>
          </a:stretch>
        </p:blipFill>
        <p:spPr>
          <a:xfrm>
            <a:off x="3056137" y="552451"/>
            <a:ext cx="2299799" cy="1752600"/>
          </a:xfrm>
          <a:prstGeom prst="rect">
            <a:avLst/>
          </a:prstGeom>
        </p:spPr>
      </p:pic>
    </p:spTree>
    <p:extLst>
      <p:ext uri="{BB962C8B-B14F-4D97-AF65-F5344CB8AC3E}">
        <p14:creationId xmlns:p14="http://schemas.microsoft.com/office/powerpoint/2010/main" val="3381306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56450-1825-0FEC-F973-1A7319220D8C}"/>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BA42AFC-5B16-BA2D-862F-FEDFFF92918E}"/>
              </a:ext>
            </a:extLst>
          </p:cNvPr>
          <p:cNvSpPr txBox="1"/>
          <p:nvPr/>
        </p:nvSpPr>
        <p:spPr>
          <a:xfrm>
            <a:off x="277092" y="277825"/>
            <a:ext cx="2675658" cy="241476"/>
          </a:xfrm>
          <a:prstGeom prst="rect">
            <a:avLst/>
          </a:prstGeom>
        </p:spPr>
        <p:txBody>
          <a:bodyPr wrap="square" lIns="0" tIns="0" rIns="0" bIns="0" rtlCol="0" anchor="t">
            <a:spAutoFit/>
          </a:bodyPr>
          <a:lstStyle/>
          <a:p>
            <a:pPr>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2.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Bộ</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dữ</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liệu</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A8238508-9765-79D7-888F-0EC81EE46D4E}"/>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8</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53662D7-0E70-A363-80DB-BE9714FC2735}"/>
              </a:ext>
            </a:extLst>
          </p:cNvPr>
          <p:cNvSpPr txBox="1"/>
          <p:nvPr/>
        </p:nvSpPr>
        <p:spPr>
          <a:xfrm>
            <a:off x="277092" y="519301"/>
            <a:ext cx="5114058" cy="895117"/>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Phân bố tần suất từ trong tập dữ liệu cho thấy một số từ xuất hiện với tần suất rất cao, trong khi phần lớn các từ còn lại có tần suất thấp.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Các từ xuất hiện nhiều chủ yếu là các stopwords và từ chức năng (function words), đóng vai trò kết nối ngữ pháp trong câu.</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CDCCCFF2-0F0E-DD70-1334-554744CC9ADD}"/>
              </a:ext>
            </a:extLst>
          </p:cNvPr>
          <p:cNvPicPr>
            <a:picLocks noChangeAspect="1"/>
          </p:cNvPicPr>
          <p:nvPr/>
        </p:nvPicPr>
        <p:blipFill>
          <a:blip r:embed="rId2"/>
          <a:srcRect b="7822"/>
          <a:stretch>
            <a:fillRect/>
          </a:stretch>
        </p:blipFill>
        <p:spPr>
          <a:xfrm>
            <a:off x="214466" y="1665275"/>
            <a:ext cx="2651125" cy="1295400"/>
          </a:xfrm>
          <a:prstGeom prst="rect">
            <a:avLst/>
          </a:prstGeom>
        </p:spPr>
      </p:pic>
      <p:pic>
        <p:nvPicPr>
          <p:cNvPr id="7" name="Picture 6">
            <a:extLst>
              <a:ext uri="{FF2B5EF4-FFF2-40B4-BE49-F238E27FC236}">
                <a16:creationId xmlns:a16="http://schemas.microsoft.com/office/drawing/2014/main" id="{F33383F7-F1A8-0B42-91A5-890BCFF0B313}"/>
              </a:ext>
            </a:extLst>
          </p:cNvPr>
          <p:cNvPicPr>
            <a:picLocks noChangeAspect="1"/>
          </p:cNvPicPr>
          <p:nvPr/>
        </p:nvPicPr>
        <p:blipFill>
          <a:blip r:embed="rId3"/>
          <a:stretch>
            <a:fillRect/>
          </a:stretch>
        </p:blipFill>
        <p:spPr>
          <a:xfrm>
            <a:off x="2971800" y="1703045"/>
            <a:ext cx="2566834" cy="1211605"/>
          </a:xfrm>
          <a:prstGeom prst="rect">
            <a:avLst/>
          </a:prstGeom>
        </p:spPr>
      </p:pic>
    </p:spTree>
    <p:extLst>
      <p:ext uri="{BB962C8B-B14F-4D97-AF65-F5344CB8AC3E}">
        <p14:creationId xmlns:p14="http://schemas.microsoft.com/office/powerpoint/2010/main" val="27141208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32BB9-04FA-42A2-C852-3FE66322317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F6F0D9B-7E9C-F751-D2C4-5C33D9ECC334}"/>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8BA90DEE-526D-72B9-E2F1-ADCCB540B7E8}"/>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0FD0A2FC-5001-B999-FA51-E91349DBA4E3}"/>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BD94164D-68E8-9C54-6F2F-DD80CB7249D7}"/>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EDBBBC8C-DAC1-DCA7-897A-EA4DD26751F8}"/>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8" name="TextBox 7">
            <a:extLst>
              <a:ext uri="{FF2B5EF4-FFF2-40B4-BE49-F238E27FC236}">
                <a16:creationId xmlns:a16="http://schemas.microsoft.com/office/drawing/2014/main" id="{FDDCEAE5-75D6-1FE0-5CB4-322F23D30A37}"/>
              </a:ext>
            </a:extLst>
          </p:cNvPr>
          <p:cNvSpPr txBox="1"/>
          <p:nvPr/>
        </p:nvSpPr>
        <p:spPr>
          <a:xfrm>
            <a:off x="5391150" y="2914650"/>
            <a:ext cx="2190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9</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8276670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D896-2FFE-B749-55A1-61B4FA4ACA8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1966E7A-0093-2E91-74AF-5AF51EB50EF4}"/>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A47A1B8D-20D4-F10D-C8A3-DB4466DCBF93}"/>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10</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998BBAB9-B693-276C-C0EC-7DB00A345BE3}"/>
              </a:ext>
            </a:extLst>
          </p:cNvPr>
          <p:cNvSpPr txBox="1"/>
          <p:nvPr/>
        </p:nvSpPr>
        <p:spPr>
          <a:xfrm>
            <a:off x="277092" y="628650"/>
            <a:ext cx="5190258" cy="1933863"/>
          </a:xfrm>
          <a:prstGeom prst="rect">
            <a:avLst/>
          </a:prstGeom>
          <a:noFill/>
        </p:spPr>
        <p:txBody>
          <a:bodyPr wrap="square" rtlCol="0">
            <a:spAutoFit/>
          </a:bodyPr>
          <a:lstStyle/>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Trước khi tìm hiểu </a:t>
            </a:r>
            <a:r>
              <a:rPr lang="vi-VN" sz="900" b="1" dirty="0">
                <a:latin typeface="Tahoma" panose="020B0604030504040204" pitchFamily="34" charset="0"/>
                <a:ea typeface="Tahoma" panose="020B0604030504040204" pitchFamily="34" charset="0"/>
                <a:cs typeface="Tahoma" panose="020B0604030504040204" pitchFamily="34" charset="0"/>
              </a:rPr>
              <a:t>Bilingual Evaluation Understudy</a:t>
            </a:r>
            <a:r>
              <a:rPr lang="en-US" sz="900" b="1" dirty="0">
                <a:latin typeface="Tahoma" panose="020B0604030504040204" pitchFamily="34" charset="0"/>
                <a:ea typeface="Tahoma" panose="020B0604030504040204" pitchFamily="34" charset="0"/>
                <a:cs typeface="Tahoma" panose="020B0604030504040204" pitchFamily="34" charset="0"/>
              </a:rPr>
              <a:t> (</a:t>
            </a:r>
            <a:r>
              <a:rPr lang="vi-VN" sz="900" b="1" dirty="0">
                <a:latin typeface="Tahoma" panose="020B0604030504040204" pitchFamily="34" charset="0"/>
                <a:ea typeface="Tahoma" panose="020B0604030504040204" pitchFamily="34" charset="0"/>
                <a:cs typeface="Tahoma" panose="020B0604030504040204" pitchFamily="34" charset="0"/>
              </a:rPr>
              <a:t>BLEU</a:t>
            </a:r>
            <a:r>
              <a:rPr lang="en-US" sz="900" b="1" dirty="0">
                <a:latin typeface="Tahoma" panose="020B0604030504040204" pitchFamily="34" charset="0"/>
                <a:ea typeface="Tahoma" panose="020B0604030504040204" pitchFamily="34" charset="0"/>
                <a:cs typeface="Tahoma" panose="020B0604030504040204" pitchFamily="34" charset="0"/>
              </a:rPr>
              <a:t>)</a:t>
            </a:r>
            <a:r>
              <a:rPr lang="vi-VN" sz="900" dirty="0">
                <a:latin typeface="Tahoma" panose="020B0604030504040204" pitchFamily="34" charset="0"/>
                <a:ea typeface="Tahoma" panose="020B0604030504040204" pitchFamily="34" charset="0"/>
                <a:cs typeface="Tahoma" panose="020B0604030504040204" pitchFamily="34" charset="0"/>
              </a:rPr>
              <a:t>, cần nắm hai khái niệm quan trọng là n-gram và precision.</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endParaRPr lang="en-US" sz="900" b="1"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b="1" dirty="0">
                <a:latin typeface="Tahoma" panose="020B0604030504040204" pitchFamily="34" charset="0"/>
                <a:ea typeface="Tahoma" panose="020B0604030504040204" pitchFamily="34" charset="0"/>
                <a:cs typeface="Tahoma" panose="020B0604030504040204" pitchFamily="34" charset="0"/>
              </a:rPr>
              <a:t>N-gram</a:t>
            </a:r>
            <a:r>
              <a:rPr lang="vi-VN" sz="900" dirty="0">
                <a:latin typeface="Tahoma" panose="020B0604030504040204" pitchFamily="34" charset="0"/>
                <a:ea typeface="Tahoma" panose="020B0604030504040204" pitchFamily="34" charset="0"/>
                <a:cs typeface="Tahoma" panose="020B0604030504040204" pitchFamily="34" charset="0"/>
              </a:rPr>
              <a:t> là chuỗi gồm n từ liên tiếp nhau trong một câu. Việc sử dụng n-gram giúp đánh giá không chỉ từng từ riêng lẻ mà còn cả ngữ cảnh và trật tự từ trong câu.</a:t>
            </a:r>
            <a:endParaRPr lang="en-US" sz="900" dirty="0">
              <a:latin typeface="Tahoma" panose="020B0604030504040204" pitchFamily="34" charset="0"/>
              <a:ea typeface="Tahoma" panose="020B0604030504040204" pitchFamily="34" charset="0"/>
              <a:cs typeface="Tahoma" panose="020B0604030504040204" pitchFamily="34" charset="0"/>
            </a:endParaRP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1-gram (unigram): đánh giá từng từ đơn lẻ</a:t>
            </a: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2-gram (bigram): đánh giá quan hệ giữa các cặp từ</a:t>
            </a:r>
          </a:p>
          <a:p>
            <a:pPr indent="457200" algn="just" defTabSz="685800">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3-gram trở lên: đánh giá mức độ mạch lạc và cấu trúc câu</a:t>
            </a:r>
          </a:p>
          <a:p>
            <a:pPr algn="just">
              <a:lnSpc>
                <a:spcPct val="150000"/>
              </a:lnSpc>
            </a:pPr>
            <a:endParaRPr lang="en-US" sz="9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5170891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E090B-72CE-5258-63D8-0F36E28436D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FD0C813-F437-F723-EFE2-F016190B7ACA}"/>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E145024C-2F5E-05FE-B996-862A615E3F9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11</a:t>
            </a:r>
            <a:endParaRPr lang="en-US" sz="800" dirty="0">
              <a:latin typeface="Tahoma" panose="020B0604030504040204" pitchFamily="34" charset="0"/>
              <a:ea typeface="Tahoma" panose="020B0604030504040204" pitchFamily="34" charset="0"/>
              <a:cs typeface="Tahoma" panose="020B0604030504040204" pitchFamily="34" charset="0"/>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EDE068E-7D85-543C-6E67-5D8F90FF8B42}"/>
                  </a:ext>
                </a:extLst>
              </p:cNvPr>
              <p:cNvSpPr txBox="1"/>
              <p:nvPr/>
            </p:nvSpPr>
            <p:spPr>
              <a:xfrm>
                <a:off x="277092" y="628650"/>
                <a:ext cx="5190258" cy="1960537"/>
              </a:xfrm>
              <a:prstGeom prst="rect">
                <a:avLst/>
              </a:prstGeom>
              <a:noFill/>
            </p:spPr>
            <p:txBody>
              <a:bodyPr wrap="square" rtlCol="0">
                <a:spAutoFit/>
              </a:bodyPr>
              <a:lstStyle/>
              <a:p>
                <a:pPr algn="just">
                  <a:lnSpc>
                    <a:spcPct val="150000"/>
                  </a:lnSpc>
                </a:pPr>
                <a14:m>
                  <m:oMathPara xmlns:m="http://schemas.openxmlformats.org/officeDocument/2006/math">
                    <m:oMathParaPr>
                      <m:jc m:val="centerGroup"/>
                    </m:oMathParaPr>
                    <m:oMath xmlns:m="http://schemas.openxmlformats.org/officeDocument/2006/math">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Precision</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 </m:t>
                      </m:r>
                      <m:f>
                        <m:fPr>
                          <m:ctrlPr>
                            <a:rPr lang="en-US" sz="900" i="1">
                              <a:effectLst/>
                              <a:latin typeface="Cambria Math" panose="02040503050406030204" pitchFamily="18" charset="0"/>
                            </a:rPr>
                          </m:ctrlPr>
                        </m:fPr>
                        <m:num>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S</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ố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ừ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d</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ự đ</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o</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á</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đú</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ng</m:t>
                          </m:r>
                        </m:num>
                        <m:den>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ổ</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ng</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s</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ố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ừ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trong</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c</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â</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u</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 </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d</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ự đ</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o</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á</m:t>
                          </m:r>
                          <m:r>
                            <m:rPr>
                              <m:nor/>
                            </m:rPr>
                            <a:rPr lang="en-US" sz="900" i="0" kern="0">
                              <a:effectLst/>
                              <a:latin typeface="Cambria Math" panose="02040503050406030204" pitchFamily="18" charset="0"/>
                              <a:ea typeface="Times New Roman" panose="02020603050405020304" pitchFamily="18" charset="0"/>
                              <a:cs typeface="Times New Roman" panose="02020603050405020304" pitchFamily="18" charset="0"/>
                            </a:rPr>
                            <m:t>n</m:t>
                          </m:r>
                        </m:den>
                      </m:f>
                    </m:oMath>
                  </m:oMathPara>
                </a14:m>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P</a:t>
                </a:r>
                <a:r>
                  <a:rPr lang="vi-VN" sz="900" dirty="0">
                    <a:latin typeface="Tahoma" panose="020B0604030504040204" pitchFamily="34" charset="0"/>
                    <a:ea typeface="Tahoma" panose="020B0604030504040204" pitchFamily="34" charset="0"/>
                    <a:cs typeface="Tahoma" panose="020B0604030504040204" pitchFamily="34" charset="0"/>
                  </a:rPr>
                  <a:t>recision thông thường có thể dẫn đến sai lệch, đặc biệt khi mô hình lặp từ nhiều lần.</a:t>
                </a:r>
              </a:p>
              <a:p>
                <a:pPr marL="285750" indent="-171450" algn="just">
                  <a:lnSpc>
                    <a:spcPct val="150000"/>
                  </a:lnSpc>
                  <a:buFont typeface="Arial" panose="020B0604020202020204" pitchFamily="34" charset="0"/>
                  <a:buChar char="•"/>
                </a:pPr>
                <a:r>
                  <a:rPr lang="vi-VN" sz="900" dirty="0">
                    <a:latin typeface="Tahoma" panose="020B0604030504040204" pitchFamily="34" charset="0"/>
                    <a:ea typeface="Tahoma" panose="020B0604030504040204" pitchFamily="34" charset="0"/>
                    <a:cs typeface="Tahoma" panose="020B0604030504040204" pitchFamily="34" charset="0"/>
                  </a:rPr>
                  <a:t>Target Sentence: He eats an apple.</a:t>
                </a:r>
              </a:p>
              <a:p>
                <a:pPr marL="285750" indent="-171450" algn="just">
                  <a:lnSpc>
                    <a:spcPct val="150000"/>
                  </a:lnSpc>
                  <a:buFont typeface="Arial" panose="020B0604020202020204" pitchFamily="34" charset="0"/>
                  <a:buChar char="•"/>
                </a:pPr>
                <a:r>
                  <a:rPr lang="vi-VN" sz="900" dirty="0">
                    <a:latin typeface="Tahoma" panose="020B0604030504040204" pitchFamily="34" charset="0"/>
                    <a:ea typeface="Tahoma" panose="020B0604030504040204" pitchFamily="34" charset="0"/>
                    <a:cs typeface="Tahoma" panose="020B0604030504040204" pitchFamily="34" charset="0"/>
                  </a:rPr>
                  <a:t>Predicted Sentence: He He He.</a:t>
                </a: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Khi đó Precision= 1. Trong trường hợp này, precision có thể bị đánh giá sai là rất cao, mặc dù câu dự đoán không đúng nghĩa</a:t>
                </a:r>
              </a:p>
              <a:p>
                <a:pPr algn="just">
                  <a:lnSpc>
                    <a:spcPct val="150000"/>
                  </a:lnSpc>
                </a:pP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Để khắc phục phương pháp Clipped Precision được áp dụng để giới hạn số lần ghi nhận một từ đúng không vượt quá số lần xuất hiện tối đa của nó trong câu mục tiêu.</a:t>
                </a:r>
                <a:endParaRPr lang="en-US" sz="900" dirty="0">
                  <a:latin typeface="Tahoma" panose="020B0604030504040204" pitchFamily="34" charset="0"/>
                  <a:ea typeface="Tahoma" panose="020B0604030504040204" pitchFamily="34" charset="0"/>
                  <a:cs typeface="Tahoma" panose="020B0604030504040204" pitchFamily="34" charset="0"/>
                </a:endParaRPr>
              </a:p>
            </p:txBody>
          </p:sp>
        </mc:Choice>
        <mc:Fallback xmlns="">
          <p:sp>
            <p:nvSpPr>
              <p:cNvPr id="9" name="TextBox 8">
                <a:extLst>
                  <a:ext uri="{FF2B5EF4-FFF2-40B4-BE49-F238E27FC236}">
                    <a16:creationId xmlns:a16="http://schemas.microsoft.com/office/drawing/2014/main" id="{FEDE068E-7D85-543C-6E67-5D8F90FF8B42}"/>
                  </a:ext>
                </a:extLst>
              </p:cNvPr>
              <p:cNvSpPr txBox="1">
                <a:spLocks noRot="1" noChangeAspect="1" noMove="1" noResize="1" noEditPoints="1" noAdjustHandles="1" noChangeArrowheads="1" noChangeShapeType="1" noTextEdit="1"/>
              </p:cNvSpPr>
              <p:nvPr/>
            </p:nvSpPr>
            <p:spPr>
              <a:xfrm>
                <a:off x="277092" y="628650"/>
                <a:ext cx="5190258" cy="1960537"/>
              </a:xfrm>
              <a:prstGeom prst="rect">
                <a:avLst/>
              </a:prstGeom>
              <a:blipFill>
                <a:blip r:embed="rId2"/>
                <a:stretch>
                  <a:fillRect b="-621"/>
                </a:stretch>
              </a:blipFill>
            </p:spPr>
            <p:txBody>
              <a:bodyPr/>
              <a:lstStyle/>
              <a:p>
                <a:r>
                  <a:rPr lang="en-US">
                    <a:noFill/>
                  </a:rPr>
                  <a:t> </a:t>
                </a:r>
              </a:p>
            </p:txBody>
          </p:sp>
        </mc:Fallback>
      </mc:AlternateContent>
    </p:spTree>
    <p:extLst>
      <p:ext uri="{BB962C8B-B14F-4D97-AF65-F5344CB8AC3E}">
        <p14:creationId xmlns:p14="http://schemas.microsoft.com/office/powerpoint/2010/main" val="27767771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74763-414A-76EF-371B-24480B32034C}"/>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3D2763-414D-7B54-E74B-061B48312CCD}"/>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4907BA3-E140-F641-1420-17893DF76725}"/>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12</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34339FB5-E7F3-65B8-F894-DCCC16A5964D}"/>
              </a:ext>
            </a:extLst>
          </p:cNvPr>
          <p:cNvSpPr txBox="1"/>
          <p:nvPr/>
        </p:nvSpPr>
        <p:spPr>
          <a:xfrm>
            <a:off x="277092" y="628650"/>
            <a:ext cx="5190258" cy="1310615"/>
          </a:xfrm>
          <a:prstGeom prst="rect">
            <a:avLst/>
          </a:prstGeom>
          <a:noFill/>
        </p:spPr>
        <p:txBody>
          <a:bodyPr wrap="square" rtlCol="0">
            <a:spAutoFit/>
          </a:bodyPr>
          <a:lstStyle/>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Target Sentence 1: He eats a sweet apple.</a:t>
            </a:r>
          </a:p>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Target Sentence 2: He is eating a tasty apple.</a:t>
            </a:r>
          </a:p>
          <a:p>
            <a:pPr marL="285750" indent="-171450" algn="just">
              <a:lnSpc>
                <a:spcPct val="150000"/>
              </a:lnSpc>
              <a:buFont typeface="Arial" panose="020B0604020202020204" pitchFamily="34" charset="0"/>
              <a:buChar char="•"/>
            </a:pPr>
            <a:r>
              <a:rPr lang="en-US" sz="900" dirty="0">
                <a:latin typeface="Tahoma" panose="020B0604030504040204" pitchFamily="34" charset="0"/>
                <a:ea typeface="Tahoma" panose="020B0604030504040204" pitchFamily="34" charset="0"/>
                <a:cs typeface="Tahoma" panose="020B0604030504040204" pitchFamily="34" charset="0"/>
              </a:rPr>
              <a:t>Predicted Sentence: He </a:t>
            </a:r>
            <a:r>
              <a:rPr lang="en-US" sz="900" dirty="0" err="1">
                <a:latin typeface="Tahoma" panose="020B0604030504040204" pitchFamily="34" charset="0"/>
                <a:ea typeface="Tahoma" panose="020B0604030504040204" pitchFamily="34" charset="0"/>
                <a:cs typeface="Tahoma" panose="020B0604030504040204" pitchFamily="34" charset="0"/>
              </a:rPr>
              <a:t>He</a:t>
            </a:r>
            <a:r>
              <a:rPr lang="en-US" sz="900" dirty="0">
                <a:latin typeface="Tahoma" panose="020B0604030504040204" pitchFamily="34" charset="0"/>
                <a:ea typeface="Tahoma" panose="020B0604030504040204" pitchFamily="34" charset="0"/>
                <a:cs typeface="Tahoma" panose="020B0604030504040204" pitchFamily="34" charset="0"/>
              </a:rPr>
              <a:t> </a:t>
            </a:r>
            <a:r>
              <a:rPr lang="en-US" sz="900" dirty="0" err="1">
                <a:latin typeface="Tahoma" panose="020B0604030504040204" pitchFamily="34" charset="0"/>
                <a:ea typeface="Tahoma" panose="020B0604030504040204" pitchFamily="34" charset="0"/>
                <a:cs typeface="Tahoma" panose="020B0604030504040204" pitchFamily="34" charset="0"/>
              </a:rPr>
              <a:t>He</a:t>
            </a:r>
            <a:r>
              <a:rPr lang="en-US" sz="900" dirty="0">
                <a:latin typeface="Tahoma" panose="020B0604030504040204" pitchFamily="34" charset="0"/>
                <a:ea typeface="Tahoma" panose="020B0604030504040204" pitchFamily="34" charset="0"/>
                <a:cs typeface="Tahoma" panose="020B0604030504040204" pitchFamily="34" charset="0"/>
              </a:rPr>
              <a:t> eats tasty fruit.</a:t>
            </a: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Từ "He" chỉ xuất hiện 1 lần trong Target Sentence. Vì thế, dù từ "He" xuất hiện 3 lần ở trong Predicted Sentence, chúng ta clip về 1, như là số lần xuất hiện tối đa trong Target Sentence. </a:t>
            </a:r>
            <a:endParaRPr lang="en-US" sz="900" dirty="0">
              <a:latin typeface="Tahoma" panose="020B0604030504040204" pitchFamily="34" charset="0"/>
              <a:ea typeface="Tahoma" panose="020B0604030504040204" pitchFamily="34" charset="0"/>
              <a:cs typeface="Tahoma" panose="020B0604030504040204" pitchFamily="34" charset="0"/>
            </a:endParaRPr>
          </a:p>
          <a:p>
            <a:pPr algn="just">
              <a:lnSpc>
                <a:spcPct val="150000"/>
              </a:lnSpc>
            </a:pPr>
            <a:r>
              <a:rPr lang="vi-VN" sz="900" dirty="0">
                <a:latin typeface="Tahoma" panose="020B0604030504040204" pitchFamily="34" charset="0"/>
                <a:ea typeface="Tahoma" panose="020B0604030504040204" pitchFamily="34" charset="0"/>
                <a:cs typeface="Tahoma" panose="020B0604030504040204" pitchFamily="34" charset="0"/>
              </a:rPr>
              <a:t>→ Clipped Precision</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  3/6</a:t>
            </a:r>
            <a:endParaRPr lang="en-US" sz="90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4932E060-25FE-96A5-01EC-25D7056AC14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40571" y="2000250"/>
            <a:ext cx="3071958" cy="1005709"/>
          </a:xfrm>
          <a:prstGeom prst="rect">
            <a:avLst/>
          </a:prstGeom>
          <a:noFill/>
          <a:ln>
            <a:noFill/>
          </a:ln>
        </p:spPr>
      </p:pic>
    </p:spTree>
    <p:extLst>
      <p:ext uri="{BB962C8B-B14F-4D97-AF65-F5344CB8AC3E}">
        <p14:creationId xmlns:p14="http://schemas.microsoft.com/office/powerpoint/2010/main" val="1780473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30CB1-6AF4-1FCC-7A9F-D15A8FCFB02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FCC8FF4-6C5C-4252-C80A-62190182A7EC}"/>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3.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Chỉ</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số</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đánh</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giá</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7155CACB-6A56-2E47-354F-00BC1A6B3A8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13</a:t>
            </a:r>
            <a:endParaRPr lang="en-US" sz="800" dirty="0">
              <a:latin typeface="Tahoma" panose="020B0604030504040204" pitchFamily="34" charset="0"/>
              <a:ea typeface="Tahoma" panose="020B0604030504040204" pitchFamily="34" charset="0"/>
              <a:cs typeface="Tahoma" panose="020B0604030504040204" pitchFamily="34" charset="0"/>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C6653E8-516C-BE79-3B30-B766D20435A6}"/>
                  </a:ext>
                </a:extLst>
              </p:cNvPr>
              <p:cNvSpPr txBox="1"/>
              <p:nvPr/>
            </p:nvSpPr>
            <p:spPr>
              <a:xfrm>
                <a:off x="277092" y="628650"/>
                <a:ext cx="2675658" cy="2203039"/>
              </a:xfrm>
              <a:prstGeom prst="rect">
                <a:avLst/>
              </a:prstGeom>
              <a:noFill/>
            </p:spPr>
            <p:txBody>
              <a:bodyPr wrap="square" rtlCol="0">
                <a:spAutoFit/>
              </a:bodyPr>
              <a:lstStyle/>
              <a:p>
                <a:pPr algn="just">
                  <a:lnSpc>
                    <a:spcPct val="130000"/>
                  </a:lnSpc>
                </a:pPr>
                <a:r>
                  <a:rPr lang="en-US" sz="900" dirty="0">
                    <a:latin typeface="Tahoma" panose="020B0604030504040204" pitchFamily="34" charset="0"/>
                    <a:ea typeface="Tahoma" panose="020B0604030504040204" pitchFamily="34" charset="0"/>
                    <a:cs typeface="Tahoma" panose="020B0604030504040204" pitchFamily="34" charset="0"/>
                  </a:rPr>
                  <a:t>C</a:t>
                </a:r>
                <a:r>
                  <a:rPr lang="vi-VN" sz="900" dirty="0">
                    <a:latin typeface="Tahoma" panose="020B0604030504040204" pitchFamily="34" charset="0"/>
                    <a:ea typeface="Tahoma" panose="020B0604030504040204" pitchFamily="34" charset="0"/>
                    <a:cs typeface="Tahoma" panose="020B0604030504040204" pitchFamily="34" charset="0"/>
                  </a:rPr>
                  <a:t>hỉ số </a:t>
                </a:r>
                <a:r>
                  <a:rPr lang="vi-VN" sz="900" b="1" dirty="0">
                    <a:latin typeface="Tahoma" panose="020B0604030504040204" pitchFamily="34" charset="0"/>
                    <a:ea typeface="Tahoma" panose="020B0604030504040204" pitchFamily="34" charset="0"/>
                    <a:cs typeface="Tahoma" panose="020B0604030504040204" pitchFamily="34" charset="0"/>
                  </a:rPr>
                  <a:t>BLEU</a:t>
                </a:r>
                <a:r>
                  <a:rPr lang="en-US" sz="900" dirty="0">
                    <a:latin typeface="Tahoma" panose="020B0604030504040204" pitchFamily="34" charset="0"/>
                    <a:ea typeface="Tahoma" panose="020B0604030504040204" pitchFamily="34" charset="0"/>
                    <a:cs typeface="Tahoma" panose="020B0604030504040204" pitchFamily="34" charset="0"/>
                  </a:rPr>
                  <a:t> </a:t>
                </a:r>
                <a:r>
                  <a:rPr lang="vi-VN" sz="900" dirty="0">
                    <a:latin typeface="Tahoma" panose="020B0604030504040204" pitchFamily="34" charset="0"/>
                    <a:ea typeface="Tahoma" panose="020B0604030504040204" pitchFamily="34" charset="0"/>
                    <a:cs typeface="Tahoma" panose="020B0604030504040204" pitchFamily="34" charset="0"/>
                  </a:rPr>
                  <a:t>không chỉ so sánh từ đơn lẻ mà sử dụng modified n-gram precision, mở rộng cho nhiều mức n-gram để đánh giá đồng thời độ chính xác từ vựng và cấu trúc câu.</a:t>
                </a:r>
              </a:p>
              <a:p>
                <a:pPr algn="just">
                  <a:lnSpc>
                    <a:spcPct val="130000"/>
                  </a:lnSpc>
                </a:pPr>
                <a:r>
                  <a:rPr lang="vi-VN" sz="900" dirty="0">
                    <a:latin typeface="Tahoma" panose="020B0604030504040204" pitchFamily="34" charset="0"/>
                    <a:ea typeface="Tahoma" panose="020B0604030504040204" pitchFamily="34" charset="0"/>
                    <a:cs typeface="Tahoma" panose="020B0604030504040204" pitchFamily="34" charset="0"/>
                  </a:rPr>
                  <a:t>Ngoài ra, BLEU còn sử dụng thêm brevity penalty (BP) để phạt các câu dịch quá ngắn:</a:t>
                </a:r>
                <a:endParaRPr lang="en-US" sz="900" dirty="0">
                  <a:latin typeface="Tahoma" panose="020B0604030504040204" pitchFamily="34" charset="0"/>
                  <a:ea typeface="Tahoma" panose="020B0604030504040204" pitchFamily="34" charset="0"/>
                  <a:cs typeface="Tahoma" panose="020B0604030504040204" pitchFamily="34" charset="0"/>
                </a:endParaRPr>
              </a:p>
              <a:p>
                <a:pPr marL="114300" algn="just">
                  <a:lnSpc>
                    <a:spcPct val="130000"/>
                  </a:lnSpc>
                </a:pPr>
                <a14:m>
                  <m:oMathPara xmlns:m="http://schemas.openxmlformats.org/officeDocument/2006/math">
                    <m:oMathParaPr>
                      <m:jc m:val="centerGroup"/>
                    </m:oMathParaPr>
                    <m:oMath xmlns:m="http://schemas.openxmlformats.org/officeDocument/2006/math">
                      <m:r>
                        <a:rPr lang="en-US" sz="900" b="0" i="1" smtClean="0">
                          <a:latin typeface="Cambria Math" panose="02040503050406030204" pitchFamily="18" charset="0"/>
                        </a:rPr>
                        <m:t>𝐵</m:t>
                      </m:r>
                      <m:r>
                        <a:rPr lang="en-US" sz="900" i="1">
                          <a:latin typeface="Cambria Math" panose="02040503050406030204" pitchFamily="18" charset="0"/>
                        </a:rPr>
                        <m:t>𝐿𝐸𝑈</m:t>
                      </m:r>
                      <m:r>
                        <a:rPr lang="en-US" sz="900" i="1">
                          <a:latin typeface="Cambria Math" panose="02040503050406030204" pitchFamily="18" charset="0"/>
                        </a:rPr>
                        <m:t>=</m:t>
                      </m:r>
                      <m:r>
                        <a:rPr lang="en-US" sz="900" i="1">
                          <a:latin typeface="Cambria Math" panose="02040503050406030204" pitchFamily="18" charset="0"/>
                        </a:rPr>
                        <m:t>𝐵𝑃</m:t>
                      </m:r>
                      <m:r>
                        <a:rPr lang="en-US" sz="900" i="1">
                          <a:latin typeface="Cambria Math" panose="02040503050406030204" pitchFamily="18" charset="0"/>
                        </a:rPr>
                        <m:t>∙</m:t>
                      </m:r>
                      <m:r>
                        <m:rPr>
                          <m:sty m:val="p"/>
                        </m:rPr>
                        <a:rPr lang="en-US" sz="900">
                          <a:latin typeface="Cambria Math" panose="02040503050406030204" pitchFamily="18" charset="0"/>
                        </a:rPr>
                        <m:t>exp</m:t>
                      </m:r>
                      <m:r>
                        <a:rPr lang="en-US" sz="900" i="1">
                          <a:latin typeface="Cambria Math" panose="02040503050406030204" pitchFamily="18" charset="0"/>
                        </a:rPr>
                        <m:t>(</m:t>
                      </m:r>
                      <m:nary>
                        <m:naryPr>
                          <m:chr m:val="∑"/>
                          <m:limLoc m:val="undOvr"/>
                          <m:ctrlPr>
                            <a:rPr lang="en-US" sz="900" i="1">
                              <a:latin typeface="Cambria Math" panose="02040503050406030204" pitchFamily="18" charset="0"/>
                            </a:rPr>
                          </m:ctrlPr>
                        </m:naryPr>
                        <m:sub>
                          <m:r>
                            <a:rPr lang="en-US" sz="900" i="1">
                              <a:latin typeface="Cambria Math" panose="02040503050406030204" pitchFamily="18" charset="0"/>
                            </a:rPr>
                            <m:t>𝑛</m:t>
                          </m:r>
                          <m:r>
                            <a:rPr lang="en-US" sz="900" i="1">
                              <a:latin typeface="Cambria Math" panose="02040503050406030204" pitchFamily="18" charset="0"/>
                            </a:rPr>
                            <m:t>=1</m:t>
                          </m:r>
                        </m:sub>
                        <m:sup>
                          <m:r>
                            <a:rPr lang="en-US" sz="900" i="1">
                              <a:latin typeface="Cambria Math" panose="02040503050406030204" pitchFamily="18" charset="0"/>
                            </a:rPr>
                            <m:t>𝑁</m:t>
                          </m:r>
                        </m:sup>
                        <m:e>
                          <m:sSub>
                            <m:sSubPr>
                              <m:ctrlPr>
                                <a:rPr lang="en-US" sz="900" i="1">
                                  <a:latin typeface="Cambria Math" panose="02040503050406030204" pitchFamily="18" charset="0"/>
                                </a:rPr>
                              </m:ctrlPr>
                            </m:sSubPr>
                            <m:e>
                              <m:r>
                                <a:rPr lang="en-US" sz="900" i="1">
                                  <a:latin typeface="Cambria Math" panose="02040503050406030204" pitchFamily="18" charset="0"/>
                                </a:rPr>
                                <m:t>𝑤</m:t>
                              </m:r>
                            </m:e>
                            <m:sub>
                              <m:r>
                                <a:rPr lang="en-US" sz="900" i="1">
                                  <a:latin typeface="Cambria Math" panose="02040503050406030204" pitchFamily="18" charset="0"/>
                                </a:rPr>
                                <m:t>𝑛</m:t>
                              </m:r>
                            </m:sub>
                          </m:sSub>
                          <m:func>
                            <m:funcPr>
                              <m:ctrlPr>
                                <a:rPr lang="en-US" sz="900" i="1">
                                  <a:latin typeface="Cambria Math" panose="02040503050406030204" pitchFamily="18" charset="0"/>
                                </a:rPr>
                              </m:ctrlPr>
                            </m:funcPr>
                            <m:fName>
                              <m:r>
                                <m:rPr>
                                  <m:sty m:val="p"/>
                                </m:rPr>
                                <a:rPr lang="en-US" sz="900">
                                  <a:latin typeface="Cambria Math" panose="02040503050406030204" pitchFamily="18" charset="0"/>
                                </a:rPr>
                                <m:t>log</m:t>
                              </m:r>
                            </m:fName>
                            <m:e>
                              <m:sSub>
                                <m:sSubPr>
                                  <m:ctrlPr>
                                    <a:rPr lang="en-US" sz="900" i="1">
                                      <a:latin typeface="Cambria Math" panose="02040503050406030204" pitchFamily="18" charset="0"/>
                                    </a:rPr>
                                  </m:ctrlPr>
                                </m:sSubPr>
                                <m:e>
                                  <m:r>
                                    <a:rPr lang="en-US" sz="900" i="1">
                                      <a:latin typeface="Cambria Math" panose="02040503050406030204" pitchFamily="18" charset="0"/>
                                    </a:rPr>
                                    <m:t>𝑝</m:t>
                                  </m:r>
                                </m:e>
                                <m:sub>
                                  <m:r>
                                    <a:rPr lang="en-US" sz="900" i="1">
                                      <a:latin typeface="Cambria Math" panose="02040503050406030204" pitchFamily="18" charset="0"/>
                                    </a:rPr>
                                    <m:t>𝑛</m:t>
                                  </m:r>
                                </m:sub>
                              </m:sSub>
                            </m:e>
                          </m:func>
                        </m:e>
                      </m:nary>
                      <m:r>
                        <a:rPr lang="en-US" sz="900" i="1">
                          <a:latin typeface="Cambria Math" panose="02040503050406030204" pitchFamily="18" charset="0"/>
                        </a:rPr>
                        <m:t>)</m:t>
                      </m:r>
                    </m:oMath>
                  </m:oMathPara>
                </a14:m>
                <a:endParaRPr lang="en-US" sz="2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14:m>
                  <m:oMath xmlns:m="http://schemas.openxmlformats.org/officeDocument/2006/math">
                    <m:sSub>
                      <m:sSubPr>
                        <m:ctrlPr>
                          <a:rPr lang="en-US" sz="900" i="1">
                            <a:latin typeface="Cambria Math" panose="02040503050406030204" pitchFamily="18" charset="0"/>
                          </a:rPr>
                        </m:ctrlPr>
                      </m:sSubPr>
                      <m:e>
                        <m:r>
                          <a:rPr lang="en-US" sz="900" i="1">
                            <a:latin typeface="Cambria Math" panose="02040503050406030204" pitchFamily="18" charset="0"/>
                          </a:rPr>
                          <m:t>𝑝</m:t>
                        </m:r>
                      </m:e>
                      <m:sub>
                        <m:r>
                          <a:rPr lang="en-US" sz="900" i="1">
                            <a:latin typeface="Cambria Math" panose="02040503050406030204" pitchFamily="18" charset="0"/>
                          </a:rPr>
                          <m:t>𝑛</m:t>
                        </m:r>
                      </m:sub>
                    </m:sSub>
                  </m:oMath>
                </a14:m>
                <a:r>
                  <a:rPr lang="vi-VN" sz="900" dirty="0">
                    <a:latin typeface="Tahoma" panose="020B0604030504040204" pitchFamily="34" charset="0"/>
                    <a:ea typeface="Tahoma" panose="020B0604030504040204" pitchFamily="34" charset="0"/>
                    <a:cs typeface="Tahoma" panose="020B0604030504040204" pitchFamily="34" charset="0"/>
                  </a:rPr>
                  <a:t>: độ chính xác n-gram bậc n </a:t>
                </a:r>
              </a:p>
              <a:p>
                <a:pPr marL="285750" indent="-171450" algn="just">
                  <a:lnSpc>
                    <a:spcPct val="130000"/>
                  </a:lnSpc>
                  <a:buFont typeface="Arial" panose="020B0604020202020204" pitchFamily="34" charset="0"/>
                  <a:buChar char="•"/>
                </a:pPr>
                <a14:m>
                  <m:oMath xmlns:m="http://schemas.openxmlformats.org/officeDocument/2006/math">
                    <m:sSub>
                      <m:sSubPr>
                        <m:ctrlPr>
                          <a:rPr lang="en-US" sz="900" i="1">
                            <a:latin typeface="Cambria Math" panose="02040503050406030204" pitchFamily="18" charset="0"/>
                          </a:rPr>
                        </m:ctrlPr>
                      </m:sSubPr>
                      <m:e>
                        <m:r>
                          <a:rPr lang="en-US" sz="900" i="1">
                            <a:latin typeface="Cambria Math" panose="02040503050406030204" pitchFamily="18" charset="0"/>
                          </a:rPr>
                          <m:t>𝑤</m:t>
                        </m:r>
                      </m:e>
                      <m:sub>
                        <m:r>
                          <a:rPr lang="en-US" sz="900" i="1">
                            <a:latin typeface="Cambria Math" panose="02040503050406030204" pitchFamily="18" charset="0"/>
                          </a:rPr>
                          <m:t>𝑛</m:t>
                        </m:r>
                      </m:sub>
                    </m:sSub>
                  </m:oMath>
                </a14:m>
                <a:r>
                  <a:rPr lang="vi-VN" sz="900" dirty="0">
                    <a:latin typeface="Tahoma" panose="020B0604030504040204" pitchFamily="34" charset="0"/>
                    <a:ea typeface="Tahoma" panose="020B0604030504040204" pitchFamily="34" charset="0"/>
                    <a:cs typeface="Tahoma" panose="020B0604030504040204" pitchFamily="34" charset="0"/>
                  </a:rPr>
                  <a:t>: trọng số với bận n-gram tương ứng </a:t>
                </a:r>
              </a:p>
              <a:p>
                <a:pPr marL="285750" indent="-171450" algn="just">
                  <a:lnSpc>
                    <a:spcPct val="130000"/>
                  </a:lnSpc>
                  <a:buFont typeface="Arial" panose="020B0604020202020204" pitchFamily="34" charset="0"/>
                  <a:buChar char="•"/>
                </a:pPr>
                <a14:m>
                  <m:oMath xmlns:m="http://schemas.openxmlformats.org/officeDocument/2006/math">
                    <m:r>
                      <a:rPr lang="vi-VN" sz="900" i="1" dirty="0" smtClean="0">
                        <a:latin typeface="Cambria Math" panose="02040503050406030204" pitchFamily="18" charset="0"/>
                        <a:ea typeface="Tahoma" panose="020B0604030504040204" pitchFamily="34" charset="0"/>
                        <a:cs typeface="Tahoma" panose="020B0604030504040204" pitchFamily="34" charset="0"/>
                      </a:rPr>
                      <m:t>𝐵𝑃</m:t>
                    </m:r>
                  </m:oMath>
                </a14:m>
                <a:r>
                  <a:rPr lang="vi-VN" sz="900" dirty="0">
                    <a:latin typeface="Tahoma" panose="020B0604030504040204" pitchFamily="34" charset="0"/>
                    <a:ea typeface="Tahoma" panose="020B0604030504040204" pitchFamily="34" charset="0"/>
                    <a:cs typeface="Tahoma" panose="020B0604030504040204" pitchFamily="34" charset="0"/>
                  </a:rPr>
                  <a:t> (Brevity penalty): hệ số phạt độ dài câu</a:t>
                </a:r>
              </a:p>
            </p:txBody>
          </p:sp>
        </mc:Choice>
        <mc:Fallback xmlns="">
          <p:sp>
            <p:nvSpPr>
              <p:cNvPr id="9" name="TextBox 8">
                <a:extLst>
                  <a:ext uri="{FF2B5EF4-FFF2-40B4-BE49-F238E27FC236}">
                    <a16:creationId xmlns:a16="http://schemas.microsoft.com/office/drawing/2014/main" id="{6C6653E8-516C-BE79-3B30-B766D20435A6}"/>
                  </a:ext>
                </a:extLst>
              </p:cNvPr>
              <p:cNvSpPr txBox="1">
                <a:spLocks noRot="1" noChangeAspect="1" noMove="1" noResize="1" noEditPoints="1" noAdjustHandles="1" noChangeArrowheads="1" noChangeShapeType="1" noTextEdit="1"/>
              </p:cNvSpPr>
              <p:nvPr/>
            </p:nvSpPr>
            <p:spPr>
              <a:xfrm>
                <a:off x="277092" y="628650"/>
                <a:ext cx="2675658" cy="2203039"/>
              </a:xfrm>
              <a:prstGeom prst="rect">
                <a:avLst/>
              </a:prstGeom>
              <a:blipFill>
                <a:blip r:embed="rId2"/>
                <a:stretch>
                  <a:fillRect b="-27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A76628A8-3744-92A3-4272-1B55D179C2B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981325" y="1162050"/>
            <a:ext cx="2675658" cy="1209258"/>
          </a:xfrm>
          <a:prstGeom prst="rect">
            <a:avLst/>
          </a:prstGeom>
          <a:noFill/>
          <a:ln>
            <a:noFill/>
          </a:ln>
        </p:spPr>
      </p:pic>
    </p:spTree>
    <p:extLst>
      <p:ext uri="{BB962C8B-B14F-4D97-AF65-F5344CB8AC3E}">
        <p14:creationId xmlns:p14="http://schemas.microsoft.com/office/powerpoint/2010/main" val="3417955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F8A0E-CADE-5155-5128-7F62F3A7800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0946E42-B3C4-FC5F-ABDE-0FCBB60EB2F5}"/>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B6B247A9-0FDE-9F9F-F8DC-47E273313FB4}"/>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FDECAB01-2187-659F-DBE5-C8BE55E390DA}"/>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55BDB52C-F9EE-3B74-3312-B85A801BEFAF}"/>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1DBE1789-E12D-6BF0-CF5E-DD245F912B60}"/>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B0AB959F-CFEC-1010-1998-56DEC359DB0C}"/>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14</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1509446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7287E-DED4-7C48-DE93-69DA3FA67272}"/>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EA1CA48-D3E9-215E-48E1-D3C04EBBEB2C}"/>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429209CC-65AD-7F37-B55E-3C4E039919AB}"/>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15</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48612569-DF7E-D17A-3F35-BF17D9640968}"/>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4.1.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4BEC7CDA-4FF9-AD9C-25CD-CA344FD59D52}"/>
              </a:ext>
            </a:extLst>
          </p:cNvPr>
          <p:cNvSpPr txBox="1"/>
          <p:nvPr/>
        </p:nvSpPr>
        <p:spPr>
          <a:xfrm>
            <a:off x="277092" y="760777"/>
            <a:ext cx="2675658" cy="1673792"/>
          </a:xfrm>
          <a:prstGeom prst="rect">
            <a:avLst/>
          </a:prstGeom>
          <a:noFill/>
        </p:spPr>
        <p:txBody>
          <a:bodyPr wrap="square" rtlCol="0">
            <a:spAutoFit/>
          </a:bodyPr>
          <a:lstStyle/>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Mô hình Seq2Seq (Sequence-to-Sequence) được thiết kế để chuyển đổi một chuỗi dữ liệu đầu vào thành một chuỗi dữ liệu đầu ra khác.</a:t>
            </a: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Các mô hình Seq2Seq được xây dựng theo kiến trúc Encoder–Decoder</a:t>
            </a:r>
            <a:r>
              <a:rPr lang="en-US" sz="800" dirty="0">
                <a:latin typeface="Tahoma" panose="020B0604030504040204" pitchFamily="34" charset="0"/>
                <a:ea typeface="Tahoma" panose="020B0604030504040204" pitchFamily="34" charset="0"/>
                <a:cs typeface="Tahoma" panose="020B0604030504040204" pitchFamily="34" charset="0"/>
              </a:rPr>
              <a:t>:</a:t>
            </a: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Encoder: mã hóa chuỗi đầu vào thành một vector biểu diễn liên tục gọi là context vector.</a:t>
            </a: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Decoder: sử dụng context vector để sinh ra chuỗi đầu ra theo từng bước thời gian.</a:t>
            </a:r>
          </a:p>
        </p:txBody>
      </p:sp>
      <p:pic>
        <p:nvPicPr>
          <p:cNvPr id="5" name="Picture 4">
            <a:extLst>
              <a:ext uri="{FF2B5EF4-FFF2-40B4-BE49-F238E27FC236}">
                <a16:creationId xmlns:a16="http://schemas.microsoft.com/office/drawing/2014/main" id="{F99FAABA-1688-F84C-98EA-BE1E73F1F35D}"/>
              </a:ext>
            </a:extLst>
          </p:cNvPr>
          <p:cNvPicPr>
            <a:picLocks noChangeAspect="1"/>
          </p:cNvPicPr>
          <p:nvPr/>
        </p:nvPicPr>
        <p:blipFill>
          <a:blip r:embed="rId3"/>
          <a:stretch>
            <a:fillRect/>
          </a:stretch>
        </p:blipFill>
        <p:spPr>
          <a:xfrm>
            <a:off x="2952750" y="711880"/>
            <a:ext cx="2581610" cy="1814740"/>
          </a:xfrm>
          <a:prstGeom prst="rect">
            <a:avLst/>
          </a:prstGeom>
        </p:spPr>
      </p:pic>
    </p:spTree>
    <p:extLst>
      <p:ext uri="{BB962C8B-B14F-4D97-AF65-F5344CB8AC3E}">
        <p14:creationId xmlns:p14="http://schemas.microsoft.com/office/powerpoint/2010/main" val="3607679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8699D-6D8B-757A-C92A-F603D919962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8D3A572-CBF2-4C05-7872-854C67FD2F9D}"/>
              </a:ext>
            </a:extLst>
          </p:cNvPr>
          <p:cNvPicPr>
            <a:picLocks noChangeAspect="1"/>
          </p:cNvPicPr>
          <p:nvPr/>
        </p:nvPicPr>
        <p:blipFill>
          <a:blip r:embed="rId3"/>
          <a:stretch>
            <a:fillRect/>
          </a:stretch>
        </p:blipFill>
        <p:spPr>
          <a:xfrm>
            <a:off x="3867150" y="288239"/>
            <a:ext cx="1802397" cy="2527072"/>
          </a:xfrm>
          <a:prstGeom prst="rect">
            <a:avLst/>
          </a:prstGeom>
        </p:spPr>
      </p:pic>
      <p:sp>
        <p:nvSpPr>
          <p:cNvPr id="2" name="TextBox 2">
            <a:extLst>
              <a:ext uri="{FF2B5EF4-FFF2-40B4-BE49-F238E27FC236}">
                <a16:creationId xmlns:a16="http://schemas.microsoft.com/office/drawing/2014/main" id="{129229F1-D112-01B9-2DC0-65EED89C66DF}"/>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4. Phương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pháp</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7BF2B829-B41D-7143-A7D7-50866E4D4B85}"/>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16</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0553F640-A8EE-DA8E-99BB-9A9CC7E19BB5}"/>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4.2.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Mô</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hình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Transformer</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0D645298-74A0-F713-AB39-8FDF133FE67E}"/>
              </a:ext>
            </a:extLst>
          </p:cNvPr>
          <p:cNvSpPr txBox="1"/>
          <p:nvPr/>
        </p:nvSpPr>
        <p:spPr>
          <a:xfrm>
            <a:off x="277092" y="760777"/>
            <a:ext cx="3513858" cy="2313967"/>
          </a:xfrm>
          <a:prstGeom prst="rect">
            <a:avLst/>
          </a:prstGeom>
          <a:noFill/>
        </p:spPr>
        <p:txBody>
          <a:bodyPr wrap="square" rtlCol="0">
            <a:spAutoFit/>
          </a:bodyPr>
          <a:lstStyle/>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Transformer </a:t>
            </a:r>
            <a:r>
              <a:rPr lang="en-US" sz="800" dirty="0" err="1">
                <a:latin typeface="Tahoma" panose="020B0604030504040204" pitchFamily="34" charset="0"/>
                <a:ea typeface="Tahoma" panose="020B0604030504040204" pitchFamily="34" charset="0"/>
                <a:cs typeface="Tahoma" panose="020B0604030504040204" pitchFamily="34" charset="0"/>
              </a:rPr>
              <a:t>là</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mô</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hình</a:t>
            </a:r>
            <a:r>
              <a:rPr lang="en-US" sz="800" dirty="0">
                <a:latin typeface="Tahoma" panose="020B0604030504040204" pitchFamily="34" charset="0"/>
                <a:ea typeface="Tahoma" panose="020B0604030504040204" pitchFamily="34" charset="0"/>
                <a:cs typeface="Tahoma" panose="020B0604030504040204" pitchFamily="34" charset="0"/>
              </a:rPr>
              <a:t> Encoder–Decoder </a:t>
            </a:r>
            <a:r>
              <a:rPr lang="en-US" sz="800" dirty="0" err="1">
                <a:latin typeface="Tahoma" panose="020B0604030504040204" pitchFamily="34" charset="0"/>
                <a:ea typeface="Tahoma" panose="020B0604030504040204" pitchFamily="34" charset="0"/>
                <a:cs typeface="Tahoma" panose="020B0604030504040204" pitchFamily="34" charset="0"/>
              </a:rPr>
              <a:t>dựa</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hoàn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toàn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trên</a:t>
            </a:r>
            <a:r>
              <a:rPr lang="en-US" sz="800" dirty="0">
                <a:latin typeface="Tahoma" panose="020B0604030504040204" pitchFamily="34" charset="0"/>
                <a:ea typeface="Tahoma" panose="020B0604030504040204" pitchFamily="34" charset="0"/>
                <a:cs typeface="Tahoma" panose="020B0604030504040204" pitchFamily="34" charset="0"/>
              </a:rPr>
              <a:t> Attention, </a:t>
            </a:r>
            <a:r>
              <a:rPr lang="en-US" sz="800" dirty="0" err="1">
                <a:latin typeface="Tahoma" panose="020B0604030504040204" pitchFamily="34" charset="0"/>
                <a:ea typeface="Tahoma" panose="020B0604030504040204" pitchFamily="34" charset="0"/>
                <a:cs typeface="Tahoma" panose="020B0604030504040204" pitchFamily="34" charset="0"/>
              </a:rPr>
              <a:t>không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sử</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dụng</a:t>
            </a:r>
            <a:r>
              <a:rPr lang="en-US" sz="800" dirty="0">
                <a:latin typeface="Tahoma" panose="020B0604030504040204" pitchFamily="34" charset="0"/>
                <a:ea typeface="Tahoma" panose="020B0604030504040204" pitchFamily="34" charset="0"/>
                <a:cs typeface="Tahoma" panose="020B0604030504040204" pitchFamily="34" charset="0"/>
              </a:rPr>
              <a:t> RNN.</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 Cho </a:t>
            </a:r>
            <a:r>
              <a:rPr lang="en-US" sz="800" dirty="0" err="1">
                <a:latin typeface="Tahoma" panose="020B0604030504040204" pitchFamily="34" charset="0"/>
                <a:ea typeface="Tahoma" panose="020B0604030504040204" pitchFamily="34" charset="0"/>
                <a:cs typeface="Tahoma" panose="020B0604030504040204" pitchFamily="34" charset="0"/>
              </a:rPr>
              <a:t>phép</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xử</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lý</a:t>
            </a:r>
            <a:r>
              <a:rPr lang="en-US" sz="800" dirty="0">
                <a:latin typeface="Tahoma" panose="020B0604030504040204" pitchFamily="34" charset="0"/>
                <a:ea typeface="Tahoma" panose="020B0604030504040204" pitchFamily="34" charset="0"/>
                <a:cs typeface="Tahoma" panose="020B0604030504040204" pitchFamily="34" charset="0"/>
              </a:rPr>
              <a:t> song </a:t>
            </a:r>
            <a:r>
              <a:rPr lang="en-US" sz="800" dirty="0" err="1">
                <a:latin typeface="Tahoma" panose="020B0604030504040204" pitchFamily="34" charset="0"/>
                <a:ea typeface="Tahoma" panose="020B0604030504040204" pitchFamily="34" charset="0"/>
                <a:cs typeface="Tahoma" panose="020B0604030504040204" pitchFamily="34" charset="0"/>
              </a:rPr>
              <a:t>song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và</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học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tốt</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các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phụ</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thuộc</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dài</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hạn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trong</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câu</a:t>
            </a:r>
            <a:r>
              <a:rPr lang="en-US" sz="800" dirty="0">
                <a:latin typeface="Tahoma" panose="020B0604030504040204" pitchFamily="34" charset="0"/>
                <a:ea typeface="Tahoma" panose="020B0604030504040204" pitchFamily="34" charset="0"/>
                <a:cs typeface="Tahoma" panose="020B0604030504040204" pitchFamily="34" charset="0"/>
              </a:rPr>
              <a:t>.</a:t>
            </a:r>
          </a:p>
          <a:p>
            <a:pPr algn="just">
              <a:lnSpc>
                <a:spcPct val="130000"/>
              </a:lnSpc>
            </a:pPr>
            <a:endParaRPr lang="en-US" sz="800" dirty="0">
              <a:latin typeface="Tahoma" panose="020B0604030504040204" pitchFamily="34" charset="0"/>
              <a:ea typeface="Tahoma" panose="020B0604030504040204" pitchFamily="34" charset="0"/>
              <a:cs typeface="Tahoma" panose="020B0604030504040204" pitchFamily="34" charset="0"/>
            </a:endParaRPr>
          </a:p>
          <a:p>
            <a:pPr algn="just">
              <a:lnSpc>
                <a:spcPct val="130000"/>
              </a:lnSpc>
            </a:pPr>
            <a:r>
              <a:rPr lang="vi-VN" sz="800" dirty="0">
                <a:latin typeface="Tahoma" panose="020B0604030504040204" pitchFamily="34" charset="0"/>
                <a:ea typeface="Tahoma" panose="020B0604030504040204" pitchFamily="34" charset="0"/>
                <a:cs typeface="Tahoma" panose="020B0604030504040204" pitchFamily="34" charset="0"/>
              </a:rPr>
              <a:t>Kiến trúc Transformer gồm Encoder và Decoder, cùng với các thành phần chính sau:</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Positional Encoding: bổ sung thông tin vị trí của từ trong câu trước khi đưa vào Encoder</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Self-Attention: mỗi từ có thể liên hệ với toàn bộ các từ còn lại để học ngữ cảnh</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Multi-Head Attention: nhiều cơ chế attention song song, giúp học nhiều kiểu quan hệ khác nhau</a:t>
            </a:r>
            <a:endParaRPr lang="en-US" sz="800" dirty="0">
              <a:latin typeface="Tahoma" panose="020B0604030504040204" pitchFamily="34" charset="0"/>
              <a:ea typeface="Tahoma" panose="020B0604030504040204" pitchFamily="34" charset="0"/>
              <a:cs typeface="Tahoma" panose="020B0604030504040204" pitchFamily="34" charset="0"/>
            </a:endParaRPr>
          </a:p>
          <a:p>
            <a:pPr marL="285750" indent="-171450" algn="just">
              <a:lnSpc>
                <a:spcPct val="130000"/>
              </a:lnSpc>
              <a:buFont typeface="Arial" panose="020B0604020202020204" pitchFamily="34" charset="0"/>
              <a:buChar char="•"/>
            </a:pPr>
            <a:r>
              <a:rPr lang="vi-VN" sz="800" dirty="0">
                <a:latin typeface="Tahoma" panose="020B0604030504040204" pitchFamily="34" charset="0"/>
                <a:ea typeface="Tahoma" panose="020B0604030504040204" pitchFamily="34" charset="0"/>
                <a:cs typeface="Tahoma" panose="020B0604030504040204" pitchFamily="34" charset="0"/>
              </a:rPr>
              <a:t>Masking (Decoder): che thông tin tương lai, đảm bảo quá trình sinh chuỗi diễn ra theo thứ tự từ trái → phải</a:t>
            </a:r>
          </a:p>
        </p:txBody>
      </p:sp>
    </p:spTree>
    <p:extLst>
      <p:ext uri="{BB962C8B-B14F-4D97-AF65-F5344CB8AC3E}">
        <p14:creationId xmlns:p14="http://schemas.microsoft.com/office/powerpoint/2010/main" val="33855374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ED96B-E081-50FE-7861-2DE3B7ECBBB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BC56B71-7B98-1B71-E75E-69E57686E9B0}"/>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29D2DFB5-4EE4-D62B-43AF-C48986F70E73}"/>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8B32BBA4-67B1-DB26-B251-B1969EADA154}"/>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45858D52-CFEA-1ECD-B5AB-D576D47258F1}"/>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F8144E25-7E3F-23CB-590C-63F34F90B06C}"/>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6395900A-F007-850E-9EBB-35DE59BD8CA7}"/>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17</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439819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8A6AF-0E97-66FC-10CE-9FBB63B60AE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D98969CA-4591-FB5C-329E-F9AEDCB7FD50}"/>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2C7FCA5C-D625-FC1E-57E5-55DAC8EFAFEA}"/>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18</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6BD3C5A0-67FF-E20F-8750-07A5C3DFC70D}"/>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5.1. Kịch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Sequence to Sequence</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3B36822F-B5FD-C1F7-D454-B2D6F9628A45}"/>
              </a:ext>
            </a:extLst>
          </p:cNvPr>
          <p:cNvSpPr txBox="1"/>
          <p:nvPr/>
        </p:nvSpPr>
        <p:spPr>
          <a:xfrm>
            <a:off x="277092" y="760777"/>
            <a:ext cx="2828058" cy="2153923"/>
          </a:xfrm>
          <a:prstGeom prst="rect">
            <a:avLst/>
          </a:prstGeom>
          <a:noFill/>
        </p:spPr>
        <p:txBody>
          <a:bodyPr wrap="square" rtlCol="0">
            <a:spAutoFit/>
          </a:bodyPr>
          <a:lstStyle/>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Tokenizer: </a:t>
            </a:r>
            <a:r>
              <a:rPr lang="en-US" sz="800" dirty="0" err="1">
                <a:latin typeface="Tahoma" panose="020B0604030504040204" pitchFamily="34" charset="0"/>
                <a:ea typeface="Tahoma" panose="020B0604030504040204" pitchFamily="34" charset="0"/>
                <a:cs typeface="Tahoma" panose="020B0604030504040204" pitchFamily="34" charset="0"/>
              </a:rPr>
              <a:t>en_core_web_sm</a:t>
            </a:r>
            <a:r>
              <a:rPr lang="en-US" sz="800" dirty="0">
                <a:latin typeface="Tahoma" panose="020B0604030504040204" pitchFamily="34" charset="0"/>
                <a:ea typeface="Tahoma" panose="020B0604030504040204" pitchFamily="34" charset="0"/>
                <a:cs typeface="Tahoma" panose="020B0604030504040204" pitchFamily="34" charset="0"/>
              </a:rPr>
              <a:t> (EN), </a:t>
            </a:r>
            <a:r>
              <a:rPr lang="en-US" sz="800" dirty="0" err="1">
                <a:latin typeface="Tahoma" panose="020B0604030504040204" pitchFamily="34" charset="0"/>
                <a:ea typeface="Tahoma" panose="020B0604030504040204" pitchFamily="34" charset="0"/>
                <a:cs typeface="Tahoma" panose="020B0604030504040204" pitchFamily="34" charset="0"/>
              </a:rPr>
              <a:t>vi_core_news_lg</a:t>
            </a:r>
            <a:r>
              <a:rPr lang="en-US" sz="800" dirty="0">
                <a:latin typeface="Tahoma" panose="020B0604030504040204" pitchFamily="34" charset="0"/>
                <a:ea typeface="Tahoma" panose="020B0604030504040204" pitchFamily="34" charset="0"/>
                <a:cs typeface="Tahoma" panose="020B0604030504040204" pitchFamily="34" charset="0"/>
              </a:rPr>
              <a:t> (VI)</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Giới </a:t>
            </a:r>
            <a:r>
              <a:rPr lang="en-US" sz="800" dirty="0" err="1">
                <a:latin typeface="Tahoma" panose="020B0604030504040204" pitchFamily="34" charset="0"/>
                <a:ea typeface="Tahoma" panose="020B0604030504040204" pitchFamily="34" charset="0"/>
                <a:cs typeface="Tahoma" panose="020B0604030504040204" pitchFamily="34" charset="0"/>
              </a:rPr>
              <a:t>hạn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độ</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dài</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câu</a:t>
            </a:r>
            <a:r>
              <a:rPr lang="en-US" sz="800" dirty="0">
                <a:latin typeface="Tahoma" panose="020B0604030504040204" pitchFamily="34" charset="0"/>
                <a:ea typeface="Tahoma" panose="020B0604030504040204" pitchFamily="34" charset="0"/>
                <a:cs typeface="Tahoma" panose="020B0604030504040204" pitchFamily="34" charset="0"/>
              </a:rPr>
              <a:t>: 160 token</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Batch size: 1500, </a:t>
            </a:r>
            <a:r>
              <a:rPr lang="en-US" sz="800" dirty="0" err="1">
                <a:latin typeface="Tahoma" panose="020B0604030504040204" pitchFamily="34" charset="0"/>
                <a:ea typeface="Tahoma" panose="020B0604030504040204" pitchFamily="34" charset="0"/>
                <a:cs typeface="Tahoma" panose="020B0604030504040204" pitchFamily="34" charset="0"/>
              </a:rPr>
              <a:t>chạy</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trên</a:t>
            </a:r>
            <a:r>
              <a:rPr lang="en-US" sz="800" dirty="0">
                <a:latin typeface="Tahoma" panose="020B0604030504040204" pitchFamily="34" charset="0"/>
                <a:ea typeface="Tahoma" panose="020B0604030504040204" pitchFamily="34" charset="0"/>
                <a:cs typeface="Tahoma" panose="020B0604030504040204" pitchFamily="34" charset="0"/>
              </a:rPr>
              <a:t> GPU (CUDA)</a:t>
            </a:r>
          </a:p>
          <a:p>
            <a:pPr algn="just">
              <a:lnSpc>
                <a:spcPct val="130000"/>
              </a:lnSpc>
            </a:pPr>
            <a:r>
              <a:rPr lang="en-US" sz="800" b="1" i="1" dirty="0" err="1">
                <a:latin typeface="Tahoma" panose="020B0604030504040204" pitchFamily="34" charset="0"/>
                <a:ea typeface="Tahoma" panose="020B0604030504040204" pitchFamily="34" charset="0"/>
                <a:cs typeface="Tahoma" panose="020B0604030504040204" pitchFamily="34" charset="0"/>
              </a:rPr>
              <a:t>Kiến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b="1" i="1" dirty="0" err="1">
                <a:latin typeface="Tahoma" panose="020B0604030504040204" pitchFamily="34" charset="0"/>
                <a:ea typeface="Tahoma" panose="020B0604030504040204" pitchFamily="34" charset="0"/>
                <a:cs typeface="Tahoma" panose="020B0604030504040204" pitchFamily="34" charset="0"/>
              </a:rPr>
              <a:t>trúc</a:t>
            </a:r>
            <a:r>
              <a:rPr lang="en-US" sz="800" b="1" i="1" dirty="0">
                <a:latin typeface="Tahoma" panose="020B0604030504040204" pitchFamily="34" charset="0"/>
                <a:ea typeface="Tahoma" panose="020B0604030504040204" pitchFamily="34" charset="0"/>
                <a:cs typeface="Tahoma" panose="020B0604030504040204" pitchFamily="34" charset="0"/>
              </a:rPr>
              <a:t>:</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Embedding: 256</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Hidden state: 512</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2 layers Encoder–Decoder</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Dropout: 0.5</a:t>
            </a:r>
          </a:p>
          <a:p>
            <a:pPr algn="just">
              <a:lnSpc>
                <a:spcPct val="130000"/>
              </a:lnSpc>
            </a:pPr>
            <a:r>
              <a:rPr lang="en-US" sz="800" b="1" i="1" dirty="0" err="1">
                <a:latin typeface="Tahoma" panose="020B0604030504040204" pitchFamily="34" charset="0"/>
                <a:ea typeface="Tahoma" panose="020B0604030504040204" pitchFamily="34" charset="0"/>
                <a:cs typeface="Tahoma" panose="020B0604030504040204" pitchFamily="34" charset="0"/>
              </a:rPr>
              <a:t>Huấn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b="1" i="1" dirty="0" err="1">
                <a:latin typeface="Tahoma" panose="020B0604030504040204" pitchFamily="34" charset="0"/>
                <a:ea typeface="Tahoma" panose="020B0604030504040204" pitchFamily="34" charset="0"/>
                <a:cs typeface="Tahoma" panose="020B0604030504040204" pitchFamily="34" charset="0"/>
              </a:rPr>
              <a:t>luyện</a:t>
            </a:r>
            <a:r>
              <a:rPr lang="en-US" sz="800" b="1" i="1" dirty="0">
                <a:latin typeface="Tahoma" panose="020B0604030504040204" pitchFamily="34" charset="0"/>
                <a:ea typeface="Tahoma" panose="020B0604030504040204" pitchFamily="34" charset="0"/>
                <a:cs typeface="Tahoma" panose="020B0604030504040204" pitchFamily="34" charset="0"/>
              </a:rPr>
              <a:t>:</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Learning rate: 0.001</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Epochs: 11</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Gradient clipping: 1.0</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Teacher forcing: 0.5</a:t>
            </a:r>
            <a:endParaRPr lang="vi-VN" sz="8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8F336402-BA4C-35FD-5EE2-E89D2C95F17D}"/>
              </a:ext>
            </a:extLst>
          </p:cNvPr>
          <p:cNvPicPr>
            <a:picLocks noChangeAspect="1"/>
          </p:cNvPicPr>
          <p:nvPr/>
        </p:nvPicPr>
        <p:blipFill>
          <a:blip r:embed="rId3"/>
          <a:stretch>
            <a:fillRect/>
          </a:stretch>
        </p:blipFill>
        <p:spPr>
          <a:xfrm>
            <a:off x="2012107" y="2152229"/>
            <a:ext cx="3463901" cy="650988"/>
          </a:xfrm>
          <a:prstGeom prst="rect">
            <a:avLst/>
          </a:prstGeom>
        </p:spPr>
      </p:pic>
    </p:spTree>
    <p:extLst>
      <p:ext uri="{BB962C8B-B14F-4D97-AF65-F5344CB8AC3E}">
        <p14:creationId xmlns:p14="http://schemas.microsoft.com/office/powerpoint/2010/main" val="1510998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B58FC-7B45-B96D-F0C2-7AFB4277B6D2}"/>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0527B843-ABEB-C4E9-0CC8-81B8ED3B80E8}"/>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A26E1DF-BD1C-BBB8-B8F4-1E560A11DA62}"/>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19</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A095D90A-20A8-C60F-F2FD-2724C6B14AB5}"/>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5.2. Kịch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Transformer 1</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D17FB01D-8699-BF9C-2B0C-C04A8266B570}"/>
              </a:ext>
            </a:extLst>
          </p:cNvPr>
          <p:cNvSpPr txBox="1"/>
          <p:nvPr/>
        </p:nvSpPr>
        <p:spPr>
          <a:xfrm>
            <a:off x="277092" y="760777"/>
            <a:ext cx="2828058" cy="1993879"/>
          </a:xfrm>
          <a:prstGeom prst="rect">
            <a:avLst/>
          </a:prstGeom>
          <a:noFill/>
        </p:spPr>
        <p:txBody>
          <a:bodyPr wrap="square" rtlCol="0">
            <a:spAutoFit/>
          </a:bodyPr>
          <a:lstStyle/>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Tokenizer: </a:t>
            </a:r>
            <a:r>
              <a:rPr lang="en-US" sz="800" dirty="0" err="1">
                <a:latin typeface="Tahoma" panose="020B0604030504040204" pitchFamily="34" charset="0"/>
                <a:ea typeface="Tahoma" panose="020B0604030504040204" pitchFamily="34" charset="0"/>
                <a:cs typeface="Tahoma" panose="020B0604030504040204" pitchFamily="34" charset="0"/>
              </a:rPr>
              <a:t>en_core_web_sm</a:t>
            </a:r>
            <a:r>
              <a:rPr lang="en-US" sz="800" dirty="0">
                <a:latin typeface="Tahoma" panose="020B0604030504040204" pitchFamily="34" charset="0"/>
                <a:ea typeface="Tahoma" panose="020B0604030504040204" pitchFamily="34" charset="0"/>
                <a:cs typeface="Tahoma" panose="020B0604030504040204" pitchFamily="34" charset="0"/>
              </a:rPr>
              <a:t> (EN), </a:t>
            </a:r>
            <a:r>
              <a:rPr lang="en-US" sz="800" dirty="0" err="1">
                <a:latin typeface="Tahoma" panose="020B0604030504040204" pitchFamily="34" charset="0"/>
                <a:ea typeface="Tahoma" panose="020B0604030504040204" pitchFamily="34" charset="0"/>
                <a:cs typeface="Tahoma" panose="020B0604030504040204" pitchFamily="34" charset="0"/>
              </a:rPr>
              <a:t>vi_core_news_lg</a:t>
            </a:r>
            <a:r>
              <a:rPr lang="en-US" sz="800" dirty="0">
                <a:latin typeface="Tahoma" panose="020B0604030504040204" pitchFamily="34" charset="0"/>
                <a:ea typeface="Tahoma" panose="020B0604030504040204" pitchFamily="34" charset="0"/>
                <a:cs typeface="Tahoma" panose="020B0604030504040204" pitchFamily="34" charset="0"/>
              </a:rPr>
              <a:t> (VI)</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Giới </a:t>
            </a:r>
            <a:r>
              <a:rPr lang="en-US" sz="800" dirty="0" err="1">
                <a:latin typeface="Tahoma" panose="020B0604030504040204" pitchFamily="34" charset="0"/>
                <a:ea typeface="Tahoma" panose="020B0604030504040204" pitchFamily="34" charset="0"/>
                <a:cs typeface="Tahoma" panose="020B0604030504040204" pitchFamily="34" charset="0"/>
              </a:rPr>
              <a:t>hạn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độ</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dài</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câu</a:t>
            </a:r>
            <a:r>
              <a:rPr lang="en-US" sz="800" dirty="0">
                <a:latin typeface="Tahoma" panose="020B0604030504040204" pitchFamily="34" charset="0"/>
                <a:ea typeface="Tahoma" panose="020B0604030504040204" pitchFamily="34" charset="0"/>
                <a:cs typeface="Tahoma" panose="020B0604030504040204" pitchFamily="34" charset="0"/>
              </a:rPr>
              <a:t>: 160 token</a:t>
            </a:r>
          </a:p>
          <a:p>
            <a:pPr algn="just">
              <a:lnSpc>
                <a:spcPct val="130000"/>
              </a:lnSpc>
            </a:pPr>
            <a:r>
              <a:rPr lang="en-US" sz="800" b="1" dirty="0">
                <a:latin typeface="Tahoma" panose="020B0604030504040204" pitchFamily="34" charset="0"/>
                <a:ea typeface="Tahoma" panose="020B0604030504040204" pitchFamily="34" charset="0"/>
                <a:cs typeface="Tahoma" panose="020B0604030504040204" pitchFamily="34" charset="0"/>
              </a:rPr>
              <a:t>Batch size: </a:t>
            </a:r>
            <a:r>
              <a:rPr lang="en-US" sz="800" dirty="0">
                <a:latin typeface="Tahoma" panose="020B0604030504040204" pitchFamily="34" charset="0"/>
                <a:ea typeface="Tahoma" panose="020B0604030504040204" pitchFamily="34" charset="0"/>
                <a:cs typeface="Tahoma" panose="020B0604030504040204" pitchFamily="34" charset="0"/>
              </a:rPr>
              <a:t>1500, </a:t>
            </a:r>
            <a:r>
              <a:rPr lang="en-US" sz="800" dirty="0" err="1">
                <a:latin typeface="Tahoma" panose="020B0604030504040204" pitchFamily="34" charset="0"/>
                <a:ea typeface="Tahoma" panose="020B0604030504040204" pitchFamily="34" charset="0"/>
                <a:cs typeface="Tahoma" panose="020B0604030504040204" pitchFamily="34" charset="0"/>
              </a:rPr>
              <a:t>chạy</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trên</a:t>
            </a:r>
            <a:r>
              <a:rPr lang="en-US" sz="800" dirty="0">
                <a:latin typeface="Tahoma" panose="020B0604030504040204" pitchFamily="34" charset="0"/>
                <a:ea typeface="Tahoma" panose="020B0604030504040204" pitchFamily="34" charset="0"/>
                <a:cs typeface="Tahoma" panose="020B0604030504040204" pitchFamily="34" charset="0"/>
              </a:rPr>
              <a:t> GPU (CUDA)</a:t>
            </a:r>
          </a:p>
          <a:p>
            <a:pPr algn="just">
              <a:lnSpc>
                <a:spcPct val="130000"/>
              </a:lnSpc>
            </a:pPr>
            <a:r>
              <a:rPr lang="en-US" sz="800" b="1" i="1" dirty="0" err="1">
                <a:latin typeface="Tahoma" panose="020B0604030504040204" pitchFamily="34" charset="0"/>
                <a:ea typeface="Tahoma" panose="020B0604030504040204" pitchFamily="34" charset="0"/>
                <a:cs typeface="Tahoma" panose="020B0604030504040204" pitchFamily="34" charset="0"/>
              </a:rPr>
              <a:t>Kiến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b="1" i="1" dirty="0" err="1">
                <a:latin typeface="Tahoma" panose="020B0604030504040204" pitchFamily="34" charset="0"/>
                <a:ea typeface="Tahoma" panose="020B0604030504040204" pitchFamily="34" charset="0"/>
                <a:cs typeface="Tahoma" panose="020B0604030504040204" pitchFamily="34" charset="0"/>
              </a:rPr>
              <a:t>trúc</a:t>
            </a:r>
            <a:r>
              <a:rPr lang="en-US" sz="800" b="1" i="1" dirty="0">
                <a:latin typeface="Tahoma" panose="020B0604030504040204" pitchFamily="34" charset="0"/>
                <a:ea typeface="Tahoma" panose="020B0604030504040204" pitchFamily="34" charset="0"/>
                <a:cs typeface="Tahoma" panose="020B0604030504040204" pitchFamily="34" charset="0"/>
              </a:rPr>
              <a:t> Transformer:</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Embedding: </a:t>
            </a:r>
            <a:r>
              <a:rPr lang="en-US" sz="800" dirty="0" err="1">
                <a:latin typeface="Tahoma" panose="020B0604030504040204" pitchFamily="34" charset="0"/>
                <a:ea typeface="Tahoma" panose="020B0604030504040204" pitchFamily="34" charset="0"/>
                <a:cs typeface="Tahoma" panose="020B0604030504040204" pitchFamily="34" charset="0"/>
              </a:rPr>
              <a:t>d_model</a:t>
            </a:r>
            <a:r>
              <a:rPr lang="en-US" sz="800" dirty="0">
                <a:latin typeface="Tahoma" panose="020B0604030504040204" pitchFamily="34" charset="0"/>
                <a:ea typeface="Tahoma" panose="020B0604030504040204" pitchFamily="34" charset="0"/>
                <a:cs typeface="Tahoma" panose="020B0604030504040204" pitchFamily="34" charset="0"/>
              </a:rPr>
              <a:t> = 512</a:t>
            </a:r>
          </a:p>
          <a:p>
            <a:pPr marL="403225" indent="-171450" algn="just">
              <a:lnSpc>
                <a:spcPct val="130000"/>
              </a:lnSpc>
              <a:buFont typeface="Arial" panose="020B0604020202020204" pitchFamily="34" charset="0"/>
              <a:buChar char="•"/>
            </a:pPr>
            <a:r>
              <a:rPr lang="en-US" sz="800" b="1" dirty="0">
                <a:latin typeface="Tahoma" panose="020B0604030504040204" pitchFamily="34" charset="0"/>
                <a:ea typeface="Tahoma" panose="020B0604030504040204" pitchFamily="34" charset="0"/>
                <a:cs typeface="Tahoma" panose="020B0604030504040204" pitchFamily="34" charset="0"/>
              </a:rPr>
              <a:t>6</a:t>
            </a:r>
            <a:r>
              <a:rPr lang="en-US" sz="800" dirty="0">
                <a:latin typeface="Tahoma" panose="020B0604030504040204" pitchFamily="34" charset="0"/>
                <a:ea typeface="Tahoma" panose="020B0604030504040204" pitchFamily="34" charset="0"/>
                <a:cs typeface="Tahoma" panose="020B0604030504040204" pitchFamily="34" charset="0"/>
              </a:rPr>
              <a:t> layers Encoder–Decoder</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8 attention heads</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Dropout: 0.1</a:t>
            </a:r>
          </a:p>
          <a:p>
            <a:pPr algn="just">
              <a:lnSpc>
                <a:spcPct val="130000"/>
              </a:lnSpc>
            </a:pPr>
            <a:r>
              <a:rPr lang="en-US" sz="800" b="1" i="1" dirty="0" err="1">
                <a:latin typeface="Tahoma" panose="020B0604030504040204" pitchFamily="34" charset="0"/>
                <a:ea typeface="Tahoma" panose="020B0604030504040204" pitchFamily="34" charset="0"/>
                <a:cs typeface="Tahoma" panose="020B0604030504040204" pitchFamily="34" charset="0"/>
              </a:rPr>
              <a:t>Huấn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b="1" i="1" dirty="0" err="1">
                <a:latin typeface="Tahoma" panose="020B0604030504040204" pitchFamily="34" charset="0"/>
                <a:ea typeface="Tahoma" panose="020B0604030504040204" pitchFamily="34" charset="0"/>
                <a:cs typeface="Tahoma" panose="020B0604030504040204" pitchFamily="34" charset="0"/>
              </a:rPr>
              <a:t>luyện</a:t>
            </a:r>
            <a:r>
              <a:rPr lang="en-US" sz="800" b="1" i="1" dirty="0">
                <a:latin typeface="Tahoma" panose="020B0604030504040204" pitchFamily="34" charset="0"/>
                <a:ea typeface="Tahoma" panose="020B0604030504040204" pitchFamily="34" charset="0"/>
                <a:cs typeface="Tahoma" panose="020B0604030504040204" pitchFamily="34" charset="0"/>
              </a:rPr>
              <a:t>:</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Learning rate: 0.0001</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Epochs: 12</a:t>
            </a:r>
          </a:p>
          <a:p>
            <a:pPr algn="just">
              <a:lnSpc>
                <a:spcPct val="130000"/>
              </a:lnSpc>
            </a:pPr>
            <a:r>
              <a:rPr lang="en-US" sz="800" b="1" i="1" dirty="0">
                <a:latin typeface="Tahoma" panose="020B0604030504040204" pitchFamily="34" charset="0"/>
                <a:ea typeface="Tahoma" panose="020B0604030504040204" pitchFamily="34" charset="0"/>
                <a:cs typeface="Tahoma" panose="020B0604030504040204" pitchFamily="34" charset="0"/>
              </a:rPr>
              <a:t>Suy </a:t>
            </a:r>
            <a:r>
              <a:rPr lang="en-US" sz="800" b="1" i="1" dirty="0" err="1">
                <a:latin typeface="Tahoma" panose="020B0604030504040204" pitchFamily="34" charset="0"/>
                <a:ea typeface="Tahoma" panose="020B0604030504040204" pitchFamily="34" charset="0"/>
                <a:cs typeface="Tahoma" panose="020B0604030504040204" pitchFamily="34" charset="0"/>
              </a:rPr>
              <a:t>luận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dirty="0">
                <a:latin typeface="Tahoma" panose="020B0604030504040204" pitchFamily="34" charset="0"/>
                <a:ea typeface="Tahoma" panose="020B0604030504040204" pitchFamily="34" charset="0"/>
                <a:cs typeface="Tahoma" panose="020B0604030504040204" pitchFamily="34" charset="0"/>
              </a:rPr>
              <a:t>Beam search (k = 5)</a:t>
            </a:r>
            <a:endParaRPr lang="vi-VN" sz="800" dirty="0">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9132C024-120D-BC6F-A76C-1155AF85EBB5}"/>
              </a:ext>
            </a:extLst>
          </p:cNvPr>
          <p:cNvPicPr>
            <a:picLocks noChangeAspect="1"/>
          </p:cNvPicPr>
          <p:nvPr/>
        </p:nvPicPr>
        <p:blipFill>
          <a:blip r:embed="rId3"/>
          <a:stretch>
            <a:fillRect/>
          </a:stretch>
        </p:blipFill>
        <p:spPr>
          <a:xfrm>
            <a:off x="2026285" y="2104640"/>
            <a:ext cx="3549650" cy="611941"/>
          </a:xfrm>
          <a:prstGeom prst="rect">
            <a:avLst/>
          </a:prstGeom>
        </p:spPr>
      </p:pic>
      <p:pic>
        <p:nvPicPr>
          <p:cNvPr id="7" name="Picture 6">
            <a:extLst>
              <a:ext uri="{FF2B5EF4-FFF2-40B4-BE49-F238E27FC236}">
                <a16:creationId xmlns:a16="http://schemas.microsoft.com/office/drawing/2014/main" id="{1AF5BBB7-F5A4-EBD4-5A9C-14120FEE27A5}"/>
              </a:ext>
            </a:extLst>
          </p:cNvPr>
          <p:cNvPicPr>
            <a:picLocks noChangeAspect="1"/>
          </p:cNvPicPr>
          <p:nvPr/>
        </p:nvPicPr>
        <p:blipFill>
          <a:blip r:embed="rId4"/>
          <a:stretch>
            <a:fillRect/>
          </a:stretch>
        </p:blipFill>
        <p:spPr>
          <a:xfrm>
            <a:off x="2331085" y="1065501"/>
            <a:ext cx="3244850" cy="841071"/>
          </a:xfrm>
          <a:prstGeom prst="rect">
            <a:avLst/>
          </a:prstGeom>
        </p:spPr>
      </p:pic>
    </p:spTree>
    <p:extLst>
      <p:ext uri="{BB962C8B-B14F-4D97-AF65-F5344CB8AC3E}">
        <p14:creationId xmlns:p14="http://schemas.microsoft.com/office/powerpoint/2010/main" val="17314277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EE97B-D196-91C8-7F7D-1A81F95D002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AB99015D-387B-D6EC-F2CD-8A4B45586CA4}"/>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9B5BF3BB-0874-519B-AA95-06629ACE52A6}"/>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20</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FB54647A-E492-35B1-FB5A-00C62F43227A}"/>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5.3. Kịch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bản</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thử</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Transformer 2</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sp>
        <p:nvSpPr>
          <p:cNvPr id="3" name="TextBox 2">
            <a:extLst>
              <a:ext uri="{FF2B5EF4-FFF2-40B4-BE49-F238E27FC236}">
                <a16:creationId xmlns:a16="http://schemas.microsoft.com/office/drawing/2014/main" id="{7E029B24-00E6-B94A-45E6-4EFF651941CB}"/>
              </a:ext>
            </a:extLst>
          </p:cNvPr>
          <p:cNvSpPr txBox="1"/>
          <p:nvPr/>
        </p:nvSpPr>
        <p:spPr>
          <a:xfrm>
            <a:off x="277092" y="760777"/>
            <a:ext cx="2828058" cy="1993879"/>
          </a:xfrm>
          <a:prstGeom prst="rect">
            <a:avLst/>
          </a:prstGeom>
          <a:noFill/>
        </p:spPr>
        <p:txBody>
          <a:bodyPr wrap="square" rtlCol="0">
            <a:spAutoFit/>
          </a:bodyPr>
          <a:lstStyle/>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Tokenizer: </a:t>
            </a:r>
            <a:r>
              <a:rPr lang="en-US" sz="800" dirty="0" err="1">
                <a:latin typeface="Tahoma" panose="020B0604030504040204" pitchFamily="34" charset="0"/>
                <a:ea typeface="Tahoma" panose="020B0604030504040204" pitchFamily="34" charset="0"/>
                <a:cs typeface="Tahoma" panose="020B0604030504040204" pitchFamily="34" charset="0"/>
              </a:rPr>
              <a:t>en_core_web_sm</a:t>
            </a:r>
            <a:r>
              <a:rPr lang="en-US" sz="800" dirty="0">
                <a:latin typeface="Tahoma" panose="020B0604030504040204" pitchFamily="34" charset="0"/>
                <a:ea typeface="Tahoma" panose="020B0604030504040204" pitchFamily="34" charset="0"/>
                <a:cs typeface="Tahoma" panose="020B0604030504040204" pitchFamily="34" charset="0"/>
              </a:rPr>
              <a:t> (EN), </a:t>
            </a:r>
            <a:r>
              <a:rPr lang="en-US" sz="800" dirty="0" err="1">
                <a:latin typeface="Tahoma" panose="020B0604030504040204" pitchFamily="34" charset="0"/>
                <a:ea typeface="Tahoma" panose="020B0604030504040204" pitchFamily="34" charset="0"/>
                <a:cs typeface="Tahoma" panose="020B0604030504040204" pitchFamily="34" charset="0"/>
              </a:rPr>
              <a:t>vi_core_news_lg</a:t>
            </a:r>
            <a:r>
              <a:rPr lang="en-US" sz="800" dirty="0">
                <a:latin typeface="Tahoma" panose="020B0604030504040204" pitchFamily="34" charset="0"/>
                <a:ea typeface="Tahoma" panose="020B0604030504040204" pitchFamily="34" charset="0"/>
                <a:cs typeface="Tahoma" panose="020B0604030504040204" pitchFamily="34" charset="0"/>
              </a:rPr>
              <a:t> (VI)</a:t>
            </a:r>
          </a:p>
          <a:p>
            <a:pPr algn="just">
              <a:lnSpc>
                <a:spcPct val="130000"/>
              </a:lnSpc>
            </a:pPr>
            <a:r>
              <a:rPr lang="en-US" sz="800" dirty="0">
                <a:latin typeface="Tahoma" panose="020B0604030504040204" pitchFamily="34" charset="0"/>
                <a:ea typeface="Tahoma" panose="020B0604030504040204" pitchFamily="34" charset="0"/>
                <a:cs typeface="Tahoma" panose="020B0604030504040204" pitchFamily="34" charset="0"/>
              </a:rPr>
              <a:t>Giới </a:t>
            </a:r>
            <a:r>
              <a:rPr lang="en-US" sz="800" dirty="0" err="1">
                <a:latin typeface="Tahoma" panose="020B0604030504040204" pitchFamily="34" charset="0"/>
                <a:ea typeface="Tahoma" panose="020B0604030504040204" pitchFamily="34" charset="0"/>
                <a:cs typeface="Tahoma" panose="020B0604030504040204" pitchFamily="34" charset="0"/>
              </a:rPr>
              <a:t>hạn</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độ</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dài</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câu</a:t>
            </a:r>
            <a:r>
              <a:rPr lang="en-US" sz="800" dirty="0">
                <a:latin typeface="Tahoma" panose="020B0604030504040204" pitchFamily="34" charset="0"/>
                <a:ea typeface="Tahoma" panose="020B0604030504040204" pitchFamily="34" charset="0"/>
                <a:cs typeface="Tahoma" panose="020B0604030504040204" pitchFamily="34" charset="0"/>
              </a:rPr>
              <a:t>: 160 token</a:t>
            </a:r>
          </a:p>
          <a:p>
            <a:pPr algn="just">
              <a:lnSpc>
                <a:spcPct val="130000"/>
              </a:lnSpc>
            </a:pPr>
            <a:r>
              <a:rPr lang="en-US" sz="800" b="1" dirty="0">
                <a:latin typeface="Tahoma" panose="020B0604030504040204" pitchFamily="34" charset="0"/>
                <a:ea typeface="Tahoma" panose="020B0604030504040204" pitchFamily="34" charset="0"/>
                <a:cs typeface="Tahoma" panose="020B0604030504040204" pitchFamily="34" charset="0"/>
              </a:rPr>
              <a:t>Batch size: </a:t>
            </a:r>
            <a:r>
              <a:rPr lang="en-US" sz="800" dirty="0">
                <a:latin typeface="Tahoma" panose="020B0604030504040204" pitchFamily="34" charset="0"/>
                <a:ea typeface="Tahoma" panose="020B0604030504040204" pitchFamily="34" charset="0"/>
                <a:cs typeface="Tahoma" panose="020B0604030504040204" pitchFamily="34" charset="0"/>
              </a:rPr>
              <a:t>1500, </a:t>
            </a:r>
            <a:r>
              <a:rPr lang="en-US" sz="800" dirty="0" err="1">
                <a:latin typeface="Tahoma" panose="020B0604030504040204" pitchFamily="34" charset="0"/>
                <a:ea typeface="Tahoma" panose="020B0604030504040204" pitchFamily="34" charset="0"/>
                <a:cs typeface="Tahoma" panose="020B0604030504040204" pitchFamily="34" charset="0"/>
              </a:rPr>
              <a:t>chạy</a:t>
            </a:r>
            <a:r>
              <a:rPr lang="en-US" sz="800" dirty="0">
                <a:latin typeface="Tahoma" panose="020B0604030504040204" pitchFamily="34" charset="0"/>
                <a:ea typeface="Tahoma" panose="020B0604030504040204" pitchFamily="34" charset="0"/>
                <a:cs typeface="Tahoma" panose="020B0604030504040204" pitchFamily="34" charset="0"/>
              </a:rPr>
              <a:t> </a:t>
            </a:r>
            <a:r>
              <a:rPr lang="en-US" sz="800" dirty="0" err="1">
                <a:latin typeface="Tahoma" panose="020B0604030504040204" pitchFamily="34" charset="0"/>
                <a:ea typeface="Tahoma" panose="020B0604030504040204" pitchFamily="34" charset="0"/>
                <a:cs typeface="Tahoma" panose="020B0604030504040204" pitchFamily="34" charset="0"/>
              </a:rPr>
              <a:t>trên</a:t>
            </a:r>
            <a:r>
              <a:rPr lang="en-US" sz="800" dirty="0">
                <a:latin typeface="Tahoma" panose="020B0604030504040204" pitchFamily="34" charset="0"/>
                <a:ea typeface="Tahoma" panose="020B0604030504040204" pitchFamily="34" charset="0"/>
                <a:cs typeface="Tahoma" panose="020B0604030504040204" pitchFamily="34" charset="0"/>
              </a:rPr>
              <a:t> GPU (CUDA)</a:t>
            </a:r>
          </a:p>
          <a:p>
            <a:pPr algn="just">
              <a:lnSpc>
                <a:spcPct val="130000"/>
              </a:lnSpc>
            </a:pPr>
            <a:r>
              <a:rPr lang="en-US" sz="800" b="1" i="1" dirty="0" err="1">
                <a:latin typeface="Tahoma" panose="020B0604030504040204" pitchFamily="34" charset="0"/>
                <a:ea typeface="Tahoma" panose="020B0604030504040204" pitchFamily="34" charset="0"/>
                <a:cs typeface="Tahoma" panose="020B0604030504040204" pitchFamily="34" charset="0"/>
              </a:rPr>
              <a:t>Kiến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b="1" i="1" dirty="0" err="1">
                <a:latin typeface="Tahoma" panose="020B0604030504040204" pitchFamily="34" charset="0"/>
                <a:ea typeface="Tahoma" panose="020B0604030504040204" pitchFamily="34" charset="0"/>
                <a:cs typeface="Tahoma" panose="020B0604030504040204" pitchFamily="34" charset="0"/>
              </a:rPr>
              <a:t>trúc</a:t>
            </a:r>
            <a:r>
              <a:rPr lang="en-US" sz="800" b="1" i="1" dirty="0">
                <a:latin typeface="Tahoma" panose="020B0604030504040204" pitchFamily="34" charset="0"/>
                <a:ea typeface="Tahoma" panose="020B0604030504040204" pitchFamily="34" charset="0"/>
                <a:cs typeface="Tahoma" panose="020B0604030504040204" pitchFamily="34" charset="0"/>
              </a:rPr>
              <a:t> Transformer:</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Embedding: </a:t>
            </a:r>
            <a:r>
              <a:rPr lang="en-US" sz="800" dirty="0" err="1">
                <a:latin typeface="Tahoma" panose="020B0604030504040204" pitchFamily="34" charset="0"/>
                <a:ea typeface="Tahoma" panose="020B0604030504040204" pitchFamily="34" charset="0"/>
                <a:cs typeface="Tahoma" panose="020B0604030504040204" pitchFamily="34" charset="0"/>
              </a:rPr>
              <a:t>d_model</a:t>
            </a:r>
            <a:r>
              <a:rPr lang="en-US" sz="800" dirty="0">
                <a:latin typeface="Tahoma" panose="020B0604030504040204" pitchFamily="34" charset="0"/>
                <a:ea typeface="Tahoma" panose="020B0604030504040204" pitchFamily="34" charset="0"/>
                <a:cs typeface="Tahoma" panose="020B0604030504040204" pitchFamily="34" charset="0"/>
              </a:rPr>
              <a:t> = 512</a:t>
            </a:r>
          </a:p>
          <a:p>
            <a:pPr marL="403225" indent="-171450" algn="just">
              <a:lnSpc>
                <a:spcPct val="130000"/>
              </a:lnSpc>
              <a:buFont typeface="Arial" panose="020B0604020202020204" pitchFamily="34" charset="0"/>
              <a:buChar char="•"/>
            </a:pPr>
            <a:r>
              <a:rPr lang="en-US" sz="800" b="1" dirty="0">
                <a:latin typeface="Tahoma" panose="020B0604030504040204" pitchFamily="34" charset="0"/>
                <a:ea typeface="Tahoma" panose="020B0604030504040204" pitchFamily="34" charset="0"/>
                <a:cs typeface="Tahoma" panose="020B0604030504040204" pitchFamily="34" charset="0"/>
              </a:rPr>
              <a:t>8</a:t>
            </a:r>
            <a:r>
              <a:rPr lang="en-US" sz="800" dirty="0">
                <a:latin typeface="Tahoma" panose="020B0604030504040204" pitchFamily="34" charset="0"/>
                <a:ea typeface="Tahoma" panose="020B0604030504040204" pitchFamily="34" charset="0"/>
                <a:cs typeface="Tahoma" panose="020B0604030504040204" pitchFamily="34" charset="0"/>
              </a:rPr>
              <a:t> layers Encoder–Decoder</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8 attention heads</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Dropout: 0.1</a:t>
            </a:r>
          </a:p>
          <a:p>
            <a:pPr algn="just">
              <a:lnSpc>
                <a:spcPct val="130000"/>
              </a:lnSpc>
            </a:pPr>
            <a:r>
              <a:rPr lang="en-US" sz="800" b="1" i="1" dirty="0" err="1">
                <a:latin typeface="Tahoma" panose="020B0604030504040204" pitchFamily="34" charset="0"/>
                <a:ea typeface="Tahoma" panose="020B0604030504040204" pitchFamily="34" charset="0"/>
                <a:cs typeface="Tahoma" panose="020B0604030504040204" pitchFamily="34" charset="0"/>
              </a:rPr>
              <a:t>Huấn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b="1" i="1" dirty="0" err="1">
                <a:latin typeface="Tahoma" panose="020B0604030504040204" pitchFamily="34" charset="0"/>
                <a:ea typeface="Tahoma" panose="020B0604030504040204" pitchFamily="34" charset="0"/>
                <a:cs typeface="Tahoma" panose="020B0604030504040204" pitchFamily="34" charset="0"/>
              </a:rPr>
              <a:t>luyện</a:t>
            </a:r>
            <a:r>
              <a:rPr lang="en-US" sz="800" b="1" i="1" dirty="0">
                <a:latin typeface="Tahoma" panose="020B0604030504040204" pitchFamily="34" charset="0"/>
                <a:ea typeface="Tahoma" panose="020B0604030504040204" pitchFamily="34" charset="0"/>
                <a:cs typeface="Tahoma" panose="020B0604030504040204" pitchFamily="34" charset="0"/>
              </a:rPr>
              <a:t>:</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Learning rate: 0.0001</a:t>
            </a:r>
          </a:p>
          <a:p>
            <a:pPr marL="403225" indent="-171450" algn="just">
              <a:lnSpc>
                <a:spcPct val="130000"/>
              </a:lnSpc>
              <a:buFont typeface="Arial" panose="020B0604020202020204" pitchFamily="34" charset="0"/>
              <a:buChar char="•"/>
            </a:pPr>
            <a:r>
              <a:rPr lang="en-US" sz="800" dirty="0">
                <a:latin typeface="Tahoma" panose="020B0604030504040204" pitchFamily="34" charset="0"/>
                <a:ea typeface="Tahoma" panose="020B0604030504040204" pitchFamily="34" charset="0"/>
                <a:cs typeface="Tahoma" panose="020B0604030504040204" pitchFamily="34" charset="0"/>
              </a:rPr>
              <a:t>Epochs: 12</a:t>
            </a:r>
          </a:p>
          <a:p>
            <a:pPr algn="just">
              <a:lnSpc>
                <a:spcPct val="130000"/>
              </a:lnSpc>
            </a:pPr>
            <a:r>
              <a:rPr lang="en-US" sz="800" b="1" i="1" dirty="0">
                <a:latin typeface="Tahoma" panose="020B0604030504040204" pitchFamily="34" charset="0"/>
                <a:ea typeface="Tahoma" panose="020B0604030504040204" pitchFamily="34" charset="0"/>
                <a:cs typeface="Tahoma" panose="020B0604030504040204" pitchFamily="34" charset="0"/>
              </a:rPr>
              <a:t>Suy </a:t>
            </a:r>
            <a:r>
              <a:rPr lang="en-US" sz="800" b="1" i="1" dirty="0" err="1">
                <a:latin typeface="Tahoma" panose="020B0604030504040204" pitchFamily="34" charset="0"/>
                <a:ea typeface="Tahoma" panose="020B0604030504040204" pitchFamily="34" charset="0"/>
                <a:cs typeface="Tahoma" panose="020B0604030504040204" pitchFamily="34" charset="0"/>
              </a:rPr>
              <a:t>luận</a:t>
            </a:r>
            <a:r>
              <a:rPr lang="en-US" sz="800" b="1" i="1" dirty="0">
                <a:latin typeface="Tahoma" panose="020B0604030504040204" pitchFamily="34" charset="0"/>
                <a:ea typeface="Tahoma" panose="020B0604030504040204" pitchFamily="34" charset="0"/>
                <a:cs typeface="Tahoma" panose="020B0604030504040204" pitchFamily="34" charset="0"/>
              </a:rPr>
              <a:t>: </a:t>
            </a:r>
            <a:r>
              <a:rPr lang="en-US" sz="800" dirty="0">
                <a:latin typeface="Tahoma" panose="020B0604030504040204" pitchFamily="34" charset="0"/>
                <a:ea typeface="Tahoma" panose="020B0604030504040204" pitchFamily="34" charset="0"/>
                <a:cs typeface="Tahoma" panose="020B0604030504040204" pitchFamily="34" charset="0"/>
              </a:rPr>
              <a:t>Beam search (k = 5)</a:t>
            </a:r>
            <a:endParaRPr lang="vi-VN" sz="800" dirty="0">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B3D12B16-FCEE-E34F-4B49-0F8A103A8FF0}"/>
              </a:ext>
            </a:extLst>
          </p:cNvPr>
          <p:cNvPicPr>
            <a:picLocks noChangeAspect="1"/>
          </p:cNvPicPr>
          <p:nvPr/>
        </p:nvPicPr>
        <p:blipFill>
          <a:blip r:embed="rId3"/>
          <a:stretch>
            <a:fillRect/>
          </a:stretch>
        </p:blipFill>
        <p:spPr>
          <a:xfrm>
            <a:off x="2365375" y="1076930"/>
            <a:ext cx="3244850" cy="841071"/>
          </a:xfrm>
          <a:prstGeom prst="rect">
            <a:avLst/>
          </a:prstGeom>
        </p:spPr>
      </p:pic>
      <p:pic>
        <p:nvPicPr>
          <p:cNvPr id="7" name="Picture 6">
            <a:extLst>
              <a:ext uri="{FF2B5EF4-FFF2-40B4-BE49-F238E27FC236}">
                <a16:creationId xmlns:a16="http://schemas.microsoft.com/office/drawing/2014/main" id="{57774E55-176E-EFD3-6D31-0A8EA1FDBC3C}"/>
              </a:ext>
            </a:extLst>
          </p:cNvPr>
          <p:cNvPicPr>
            <a:picLocks noChangeAspect="1"/>
          </p:cNvPicPr>
          <p:nvPr/>
        </p:nvPicPr>
        <p:blipFill>
          <a:blip r:embed="rId4"/>
          <a:stretch>
            <a:fillRect/>
          </a:stretch>
        </p:blipFill>
        <p:spPr>
          <a:xfrm>
            <a:off x="1922089" y="2083384"/>
            <a:ext cx="3688136" cy="635815"/>
          </a:xfrm>
          <a:prstGeom prst="rect">
            <a:avLst/>
          </a:prstGeom>
        </p:spPr>
      </p:pic>
    </p:spTree>
    <p:extLst>
      <p:ext uri="{BB962C8B-B14F-4D97-AF65-F5344CB8AC3E}">
        <p14:creationId xmlns:p14="http://schemas.microsoft.com/office/powerpoint/2010/main" val="42904569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DD62F-7061-6FA1-A36A-056228CC7F5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7783E79-3B4F-C82F-2587-BDB8ECDBF7BB}"/>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5.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quả</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thực</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nghiệm</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7E85809-8E1A-1C76-C078-0B3906F5C382}"/>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21</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9" name="TextBox 8">
            <a:extLst>
              <a:ext uri="{FF2B5EF4-FFF2-40B4-BE49-F238E27FC236}">
                <a16:creationId xmlns:a16="http://schemas.microsoft.com/office/drawing/2014/main" id="{D606A9A9-8D53-CC14-31CB-7D6228D11CAE}"/>
              </a:ext>
            </a:extLst>
          </p:cNvPr>
          <p:cNvSpPr txBox="1"/>
          <p:nvPr/>
        </p:nvSpPr>
        <p:spPr>
          <a:xfrm>
            <a:off x="277092" y="519301"/>
            <a:ext cx="2675658" cy="251094"/>
          </a:xfrm>
          <a:prstGeom prst="rect">
            <a:avLst/>
          </a:prstGeom>
          <a:noFill/>
        </p:spPr>
        <p:txBody>
          <a:bodyPr wrap="square" rtlCol="0">
            <a:spAutoFit/>
          </a:bodyPr>
          <a:lstStyle/>
          <a:p>
            <a:pPr algn="just">
              <a:lnSpc>
                <a:spcPct val="130000"/>
              </a:lnSpc>
            </a:pP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5.4. So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sánh</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kết</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quả</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các</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thực</a:t>
            </a:r>
            <a:r>
              <a:rPr lang="en-US" sz="900" u="sng" dirty="0">
                <a:solidFill>
                  <a:srgbClr val="00B050"/>
                </a:solidFill>
                <a:latin typeface="Tahoma" panose="020B0604030504040204" pitchFamily="34" charset="0"/>
                <a:ea typeface="Tahoma" panose="020B0604030504040204" pitchFamily="34" charset="0"/>
                <a:cs typeface="Tahoma" panose="020B0604030504040204" pitchFamily="34" charset="0"/>
              </a:rPr>
              <a:t> </a:t>
            </a:r>
            <a:r>
              <a:rPr lang="en-US" sz="900" u="sng" dirty="0" err="1">
                <a:solidFill>
                  <a:srgbClr val="00B050"/>
                </a:solidFill>
                <a:latin typeface="Tahoma" panose="020B0604030504040204" pitchFamily="34" charset="0"/>
                <a:ea typeface="Tahoma" panose="020B0604030504040204" pitchFamily="34" charset="0"/>
                <a:cs typeface="Tahoma" panose="020B0604030504040204" pitchFamily="34" charset="0"/>
              </a:rPr>
              <a:t>nghiệm</a:t>
            </a:r>
            <a:endParaRPr lang="vi-VN" sz="900" u="sng" dirty="0">
              <a:solidFill>
                <a:srgbClr val="00B05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46E047B3-718C-B04D-D2DC-3DC5832226C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04950" y="812787"/>
            <a:ext cx="2743200" cy="2147888"/>
          </a:xfrm>
          <a:prstGeom prst="rect">
            <a:avLst/>
          </a:prstGeom>
          <a:noFill/>
          <a:ln>
            <a:noFill/>
          </a:ln>
        </p:spPr>
      </p:pic>
    </p:spTree>
    <p:extLst>
      <p:ext uri="{BB962C8B-B14F-4D97-AF65-F5344CB8AC3E}">
        <p14:creationId xmlns:p14="http://schemas.microsoft.com/office/powerpoint/2010/main" val="15819917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98032-962F-34A8-321D-E954BFA4A04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E648F10-4203-2BB3-91B2-0E160253B915}"/>
              </a:ext>
            </a:extLst>
          </p:cNvPr>
          <p:cNvGrpSpPr/>
          <p:nvPr/>
        </p:nvGrpSpPr>
        <p:grpSpPr>
          <a:xfrm>
            <a:off x="-6915" y="0"/>
            <a:ext cx="5760015" cy="3244567"/>
            <a:chOff x="0" y="0"/>
            <a:chExt cx="7680020" cy="4326090"/>
          </a:xfrm>
        </p:grpSpPr>
        <p:sp>
          <p:nvSpPr>
            <p:cNvPr id="3" name="Freeform 3">
              <a:extLst>
                <a:ext uri="{FF2B5EF4-FFF2-40B4-BE49-F238E27FC236}">
                  <a16:creationId xmlns:a16="http://schemas.microsoft.com/office/drawing/2014/main" id="{91D03971-E6EE-E3A7-9FCF-DA26CA92BD12}"/>
                </a:ext>
              </a:extLst>
            </p:cNvPr>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F1A5957D-2D81-2221-4987-36ACAEA7AA37}"/>
              </a:ext>
            </a:extLst>
          </p:cNvPr>
          <p:cNvGrpSpPr/>
          <p:nvPr/>
        </p:nvGrpSpPr>
        <p:grpSpPr>
          <a:xfrm>
            <a:off x="323849" y="1931844"/>
            <a:ext cx="5219700" cy="25403"/>
            <a:chOff x="0" y="0"/>
            <a:chExt cx="6959600" cy="33871"/>
          </a:xfrm>
        </p:grpSpPr>
        <p:sp>
          <p:nvSpPr>
            <p:cNvPr id="5" name="Freeform 5">
              <a:extLst>
                <a:ext uri="{FF2B5EF4-FFF2-40B4-BE49-F238E27FC236}">
                  <a16:creationId xmlns:a16="http://schemas.microsoft.com/office/drawing/2014/main" id="{4A59DDE6-1C48-2551-677B-0265D11EC29D}"/>
                </a:ext>
              </a:extLst>
            </p:cNvPr>
            <p:cNvSpPr/>
            <p:nvPr/>
          </p:nvSpPr>
          <p:spPr>
            <a:xfrm>
              <a:off x="0" y="0"/>
              <a:ext cx="6959600" cy="33909"/>
            </a:xfrm>
            <a:custGeom>
              <a:avLst/>
              <a:gdLst/>
              <a:ahLst/>
              <a:cxnLst/>
              <a:rect l="l" t="t" r="r" b="b"/>
              <a:pathLst>
                <a:path w="6959600" h="33909">
                  <a:moveTo>
                    <a:pt x="0" y="0"/>
                  </a:moveTo>
                  <a:lnTo>
                    <a:pt x="6959600" y="0"/>
                  </a:lnTo>
                  <a:lnTo>
                    <a:pt x="6959600" y="33909"/>
                  </a:lnTo>
                  <a:lnTo>
                    <a:pt x="0" y="33909"/>
                  </a:lnTo>
                  <a:lnTo>
                    <a:pt x="0" y="0"/>
                  </a:lnTo>
                  <a:close/>
                </a:path>
              </a:pathLst>
            </a:custGeom>
            <a:blipFill>
              <a:blip r:embed="rId3"/>
              <a:stretch>
                <a:fillRect b="112"/>
              </a:stretch>
            </a:blipFill>
          </p:spPr>
        </p:sp>
      </p:grpSp>
      <p:sp>
        <p:nvSpPr>
          <p:cNvPr id="6" name="TextBox 6">
            <a:extLst>
              <a:ext uri="{FF2B5EF4-FFF2-40B4-BE49-F238E27FC236}">
                <a16:creationId xmlns:a16="http://schemas.microsoft.com/office/drawing/2014/main" id="{384F397B-3B5A-FA8F-67EB-687EF643F84E}"/>
              </a:ext>
            </a:extLst>
          </p:cNvPr>
          <p:cNvSpPr txBox="1"/>
          <p:nvPr/>
        </p:nvSpPr>
        <p:spPr>
          <a:xfrm>
            <a:off x="323849" y="1429062"/>
            <a:ext cx="5260321" cy="321948"/>
          </a:xfrm>
          <a:prstGeom prst="rect">
            <a:avLst/>
          </a:prstGeom>
        </p:spPr>
        <p:txBody>
          <a:bodyPr lIns="0" tIns="0" rIns="0" bIns="0" rtlCol="0" anchor="t">
            <a:spAutoFit/>
          </a:bodyPr>
          <a:lstStyle/>
          <a:p>
            <a:pPr algn="l">
              <a:lnSpc>
                <a:spcPts val="2800"/>
              </a:lnSpc>
            </a:pP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6.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2000" b="1" spc="-6" dirty="0" err="1">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2000" b="1" spc="-6" dirty="0">
              <a:solidFill>
                <a:srgbClr val="454545"/>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7" name="TextBox 6">
            <a:extLst>
              <a:ext uri="{FF2B5EF4-FFF2-40B4-BE49-F238E27FC236}">
                <a16:creationId xmlns:a16="http://schemas.microsoft.com/office/drawing/2014/main" id="{206AB064-5CEE-FD13-A44E-D2C693AF2C81}"/>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22</a:t>
            </a:r>
          </a:p>
        </p:txBody>
      </p:sp>
    </p:spTree>
    <p:extLst>
      <p:ext uri="{BB962C8B-B14F-4D97-AF65-F5344CB8AC3E}">
        <p14:creationId xmlns:p14="http://schemas.microsoft.com/office/powerpoint/2010/main" val="1364639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A04D0-1453-AB26-B4D8-BB6B2C5E55B3}"/>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441AF70-3F24-693E-6FF7-2B0425A38223}"/>
              </a:ext>
            </a:extLst>
          </p:cNvPr>
          <p:cNvSpPr txBox="1"/>
          <p:nvPr/>
        </p:nvSpPr>
        <p:spPr>
          <a:xfrm>
            <a:off x="277092" y="277825"/>
            <a:ext cx="2675658" cy="241476"/>
          </a:xfrm>
          <a:prstGeom prst="rect">
            <a:avLst/>
          </a:prstGeom>
        </p:spPr>
        <p:txBody>
          <a:bodyPr wrap="square" lIns="0" tIns="0" rIns="0" bIns="0" rtlCol="0" anchor="t">
            <a:spAutoFit/>
          </a:bodyPr>
          <a:lstStyle/>
          <a:p>
            <a:pPr algn="l">
              <a:lnSpc>
                <a:spcPts val="2100"/>
              </a:lnSpc>
            </a:pP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6.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Kết</a:t>
            </a:r>
            <a:r>
              <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sz="1500" b="1" spc="-4" dirty="0" err="1">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rPr>
              <a:t>luận</a:t>
            </a:r>
            <a:endParaRPr lang="en-US" sz="1500" b="1" spc="-4" dirty="0">
              <a:solidFill>
                <a:srgbClr val="2B4D7B"/>
              </a:solidFill>
              <a:latin typeface="Tahoma" panose="020B0604030504040204" pitchFamily="34" charset="0"/>
              <a:ea typeface="Tahoma" panose="020B0604030504040204" pitchFamily="34" charset="0"/>
              <a:cs typeface="Tahoma" panose="020B0604030504040204" pitchFamily="34" charset="0"/>
              <a:sym typeface="Canva Sans Bold"/>
            </a:endParaRPr>
          </a:p>
        </p:txBody>
      </p:sp>
      <p:sp>
        <p:nvSpPr>
          <p:cNvPr id="10" name="TextBox 9">
            <a:extLst>
              <a:ext uri="{FF2B5EF4-FFF2-40B4-BE49-F238E27FC236}">
                <a16:creationId xmlns:a16="http://schemas.microsoft.com/office/drawing/2014/main" id="{BFFFFA02-4CC5-75EA-B1FA-41B20A419C57}"/>
              </a:ext>
            </a:extLst>
          </p:cNvPr>
          <p:cNvSpPr txBox="1"/>
          <p:nvPr/>
        </p:nvSpPr>
        <p:spPr>
          <a:xfrm>
            <a:off x="5314950" y="2914650"/>
            <a:ext cx="295275" cy="215444"/>
          </a:xfrm>
          <a:prstGeom prst="rect">
            <a:avLst/>
          </a:prstGeom>
          <a:noFill/>
        </p:spPr>
        <p:txBody>
          <a:bodyPr wrap="square">
            <a:spAutoFit/>
          </a:bodyPr>
          <a:lstStyle/>
          <a:p>
            <a:pPr algn="r"/>
            <a:r>
              <a:rPr lang="en-US" sz="800" dirty="0">
                <a:solidFill>
                  <a:srgbClr val="1C1C1A"/>
                </a:solidFill>
                <a:latin typeface="Tahoma" panose="020B0604030504040204" pitchFamily="34" charset="0"/>
                <a:ea typeface="Tahoma" panose="020B0604030504040204" pitchFamily="34" charset="0"/>
                <a:cs typeface="Tahoma" panose="020B0604030504040204" pitchFamily="34" charset="0"/>
                <a:sym typeface="Canva Sans"/>
              </a:rPr>
              <a:t>23</a:t>
            </a:r>
            <a:endParaRPr lang="en-US" sz="800" dirty="0">
              <a:latin typeface="Tahoma" panose="020B0604030504040204" pitchFamily="34" charset="0"/>
              <a:ea typeface="Tahoma" panose="020B0604030504040204" pitchFamily="34" charset="0"/>
              <a:cs typeface="Tahoma" panose="020B0604030504040204" pitchFamily="34" charset="0"/>
            </a:endParaRPr>
          </a:p>
        </p:txBody>
      </p:sp>
      <p:sp>
        <p:nvSpPr>
          <p:cNvPr id="4" name="Rectangle: Rounded Corners 3">
            <a:extLst>
              <a:ext uri="{FF2B5EF4-FFF2-40B4-BE49-F238E27FC236}">
                <a16:creationId xmlns:a16="http://schemas.microsoft.com/office/drawing/2014/main" id="{3B52617E-8D38-BD13-D0A9-BFF94415DAA4}"/>
              </a:ext>
            </a:extLst>
          </p:cNvPr>
          <p:cNvSpPr/>
          <p:nvPr/>
        </p:nvSpPr>
        <p:spPr>
          <a:xfrm>
            <a:off x="400050" y="704850"/>
            <a:ext cx="4953000" cy="2070276"/>
          </a:xfrm>
          <a:prstGeom prst="roundRect">
            <a:avLst>
              <a:gd name="adj" fmla="val 3201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vi-VN" sz="1050" dirty="0">
                <a:solidFill>
                  <a:schemeClr val="tx1"/>
                </a:solidFill>
                <a:latin typeface="Tahoma" panose="020B0604030504040204" pitchFamily="34" charset="0"/>
                <a:ea typeface="Tahoma" panose="020B0604030504040204" pitchFamily="34" charset="0"/>
                <a:cs typeface="Tahoma" panose="020B0604030504040204" pitchFamily="34" charset="0"/>
              </a:rPr>
              <a:t>Quá trình thử nghiệm cho thấy việc sử dụng mô hình Transformer cho bài toán dịch máy từ tiếng Anh sang tiếng Việt có kết quả cao hơn hẳn so với việc sử dụng mô hình Sequence to Sequence.</a:t>
            </a:r>
            <a:endParaRPr lang="en-US" sz="1050" dirty="0">
              <a:solidFill>
                <a:schemeClr val="tx1"/>
              </a:solidFill>
              <a:latin typeface="Tahoma" panose="020B0604030504040204" pitchFamily="34" charset="0"/>
              <a:ea typeface="Tahoma" panose="020B0604030504040204" pitchFamily="34" charset="0"/>
              <a:cs typeface="Tahoma" panose="020B0604030504040204" pitchFamily="34" charset="0"/>
            </a:endParaRPr>
          </a:p>
          <a:p>
            <a:pPr algn="just"/>
            <a:endParaRPr lang="vi-VN" sz="1050" dirty="0">
              <a:solidFill>
                <a:schemeClr val="tx1"/>
              </a:solidFill>
              <a:latin typeface="Tahoma" panose="020B0604030504040204" pitchFamily="34" charset="0"/>
              <a:ea typeface="Tahoma" panose="020B0604030504040204" pitchFamily="34" charset="0"/>
              <a:cs typeface="Tahoma" panose="020B0604030504040204" pitchFamily="34" charset="0"/>
            </a:endParaRPr>
          </a:p>
          <a:p>
            <a:pPr algn="just"/>
            <a:r>
              <a:rPr lang="vi-VN" sz="1050" dirty="0">
                <a:solidFill>
                  <a:schemeClr val="tx1"/>
                </a:solidFill>
                <a:latin typeface="Tahoma" panose="020B0604030504040204" pitchFamily="34" charset="0"/>
                <a:ea typeface="Tahoma" panose="020B0604030504040204" pitchFamily="34" charset="0"/>
                <a:cs typeface="Tahoma" panose="020B0604030504040204" pitchFamily="34" charset="0"/>
              </a:rPr>
              <a:t>Kết quả thử nghiệm hiện tại ở mức demo tính khả thi, trong tương lai nhóm em sẽ thử nghiệm các kịch bản mới để tăng độ chính xác cho mô hình. Ví dụ như sử dụng phương pháp tokenizer mới, tăng số lượng tham số của mô hình.</a:t>
            </a:r>
          </a:p>
        </p:txBody>
      </p:sp>
    </p:spTree>
    <p:extLst>
      <p:ext uri="{BB962C8B-B14F-4D97-AF65-F5344CB8AC3E}">
        <p14:creationId xmlns:p14="http://schemas.microsoft.com/office/powerpoint/2010/main" val="566799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9"/>
            <a:ext cx="5760015" cy="3244567"/>
            <a:chOff x="0" y="0"/>
            <a:chExt cx="7680020" cy="4326090"/>
          </a:xfrm>
        </p:grpSpPr>
        <p:sp>
          <p:nvSpPr>
            <p:cNvPr id="3" name="Freeform 3"/>
            <p:cNvSpPr/>
            <p:nvPr/>
          </p:nvSpPr>
          <p:spPr>
            <a:xfrm>
              <a:off x="0" y="0"/>
              <a:ext cx="7680071" cy="4326128"/>
            </a:xfrm>
            <a:custGeom>
              <a:avLst/>
              <a:gdLst/>
              <a:ahLst/>
              <a:cxnLst/>
              <a:rect l="l" t="t" r="r" b="b"/>
              <a:pathLst>
                <a:path w="7680071" h="4326128">
                  <a:moveTo>
                    <a:pt x="0" y="0"/>
                  </a:moveTo>
                  <a:lnTo>
                    <a:pt x="7680071" y="0"/>
                  </a:lnTo>
                  <a:lnTo>
                    <a:pt x="7680071" y="4326128"/>
                  </a:lnTo>
                  <a:lnTo>
                    <a:pt x="0" y="4326128"/>
                  </a:lnTo>
                  <a:lnTo>
                    <a:pt x="0" y="0"/>
                  </a:lnTo>
                  <a:close/>
                </a:path>
              </a:pathLst>
            </a:custGeom>
            <a:blipFill>
              <a:blip r:embed="rId2"/>
              <a:stretch>
                <a:fillRect/>
              </a:stretch>
            </a:blipFill>
          </p:spPr>
        </p:sp>
      </p:grpSp>
      <p:grpSp>
        <p:nvGrpSpPr>
          <p:cNvPr id="4" name="Group 4"/>
          <p:cNvGrpSpPr/>
          <p:nvPr/>
        </p:nvGrpSpPr>
        <p:grpSpPr>
          <a:xfrm>
            <a:off x="370494" y="294608"/>
            <a:ext cx="1870358" cy="386620"/>
            <a:chOff x="0" y="0"/>
            <a:chExt cx="2493810" cy="515493"/>
          </a:xfrm>
        </p:grpSpPr>
        <p:sp>
          <p:nvSpPr>
            <p:cNvPr id="5" name="Freeform 5"/>
            <p:cNvSpPr/>
            <p:nvPr/>
          </p:nvSpPr>
          <p:spPr>
            <a:xfrm>
              <a:off x="0" y="0"/>
              <a:ext cx="2493772" cy="515493"/>
            </a:xfrm>
            <a:custGeom>
              <a:avLst/>
              <a:gdLst/>
              <a:ahLst/>
              <a:cxnLst/>
              <a:rect l="l" t="t" r="r" b="b"/>
              <a:pathLst>
                <a:path w="2493772" h="515493">
                  <a:moveTo>
                    <a:pt x="0" y="0"/>
                  </a:moveTo>
                  <a:lnTo>
                    <a:pt x="2493772" y="0"/>
                  </a:lnTo>
                  <a:lnTo>
                    <a:pt x="2493772" y="515493"/>
                  </a:lnTo>
                  <a:lnTo>
                    <a:pt x="0" y="515493"/>
                  </a:lnTo>
                  <a:lnTo>
                    <a:pt x="0" y="0"/>
                  </a:lnTo>
                  <a:close/>
                </a:path>
              </a:pathLst>
            </a:custGeom>
            <a:blipFill>
              <a:blip r:embed="rId3"/>
              <a:stretch>
                <a:fillRect r="-1"/>
              </a:stretch>
            </a:blipFill>
          </p:spPr>
        </p:sp>
      </p:grpSp>
      <p:pic>
        <p:nvPicPr>
          <p:cNvPr id="6" name="Picture 6"/>
          <p:cNvPicPr>
            <a:picLocks noChangeAspect="1"/>
          </p:cNvPicPr>
          <p:nvPr/>
        </p:nvPicPr>
        <p:blipFill>
          <a:blip r:embed="rId4"/>
          <a:stretch>
            <a:fillRect/>
          </a:stretch>
        </p:blipFill>
        <p:spPr>
          <a:xfrm>
            <a:off x="211206" y="1615573"/>
            <a:ext cx="1911457" cy="1458354"/>
          </a:xfrm>
          <a:prstGeom prst="rect">
            <a:avLst/>
          </a:prstGeom>
        </p:spPr>
      </p:pic>
      <p:sp>
        <p:nvSpPr>
          <p:cNvPr id="7" name="TextBox 7"/>
          <p:cNvSpPr txBox="1"/>
          <p:nvPr/>
        </p:nvSpPr>
        <p:spPr>
          <a:xfrm>
            <a:off x="113114" y="1226749"/>
            <a:ext cx="5539568" cy="326371"/>
          </a:xfrm>
          <a:prstGeom prst="rect">
            <a:avLst/>
          </a:prstGeom>
        </p:spPr>
        <p:txBody>
          <a:bodyPr lIns="0" tIns="0" rIns="0" bIns="0" rtlCol="0" anchor="t">
            <a:spAutoFit/>
          </a:bodyPr>
          <a:lstStyle/>
          <a:p>
            <a:pPr algn="ctr">
              <a:lnSpc>
                <a:spcPts val="2883"/>
              </a:lnSpc>
            </a:pP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Cảm</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ơn</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thầy</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và</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các</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bạn</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đã</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chú</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ý</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lắng</a:t>
            </a:r>
            <a:r>
              <a:rPr lang="en-US" b="1" spc="-6" dirty="0">
                <a:solidFill>
                  <a:srgbClr val="000000"/>
                </a:solidFill>
                <a:latin typeface="Tahoma" panose="020B0604030504040204" pitchFamily="34" charset="0"/>
                <a:ea typeface="Tahoma" panose="020B0604030504040204" pitchFamily="34" charset="0"/>
                <a:cs typeface="Tahoma" panose="020B0604030504040204" pitchFamily="34" charset="0"/>
                <a:sym typeface="Canva Sans Bold"/>
              </a:rPr>
              <a:t> </a:t>
            </a:r>
            <a:r>
              <a:rPr lang="en-US" b="1" spc="-6" dirty="0" err="1">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nghe</a:t>
            </a:r>
            <a:r>
              <a:rPr lang="en-US" b="1" spc="-6" dirty="0">
                <a:solidFill>
                  <a:srgbClr val="F3F6F9"/>
                </a:solidFill>
                <a:latin typeface="Tahoma" panose="020B0604030504040204" pitchFamily="34" charset="0"/>
                <a:ea typeface="Tahoma" panose="020B0604030504040204" pitchFamily="34" charset="0"/>
                <a:cs typeface="Tahoma" panose="020B0604030504040204" pitchFamily="34" charset="0"/>
                <a:sym typeface="Canva Sans Bold"/>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139</TotalTime>
  <Words>2942</Words>
  <Application>Microsoft Office PowerPoint</Application>
  <PresentationFormat>Custom</PresentationFormat>
  <Paragraphs>207</Paragraphs>
  <Slides>25</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Calibri</vt:lpstr>
      <vt:lpstr>Cambria Math</vt:lpstr>
      <vt:lpstr>Tahoma</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[M25CQCS02] Nhóm 2 Slide thuyết trình bài tập lớn</dc:title>
  <dc:creator>Myf</dc:creator>
  <cp:lastModifiedBy>Hoan Nguyen Quang</cp:lastModifiedBy>
  <cp:revision>82</cp:revision>
  <dcterms:created xsi:type="dcterms:W3CDTF">2006-08-16T00:00:00Z</dcterms:created>
  <dcterms:modified xsi:type="dcterms:W3CDTF">2026-04-27T18:01:20Z</dcterms:modified>
  <dc:identifier>DAHHkanwpZs</dc:identifier>
</cp:coreProperties>
</file>